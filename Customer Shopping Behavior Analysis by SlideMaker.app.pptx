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jpe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jpeg"/><Relationship Id="rId7" Type="http://schemas.openxmlformats.org/officeDocument/2006/relationships/image" Target="../media/image-3-7.jpeg"/><Relationship Id="rId8" Type="http://schemas.openxmlformats.org/officeDocument/2006/relationships/image" Target="../media/image-3-8.jpe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image" Target="../media/image-4-10.png"/><Relationship Id="rId11" Type="http://schemas.openxmlformats.org/officeDocument/2006/relationships/image" Target="../media/image-4-11.svg"/><Relationship Id="rId12" Type="http://schemas.openxmlformats.org/officeDocument/2006/relationships/image" Target="../media/image-4-12.png"/><Relationship Id="rId13" Type="http://schemas.openxmlformats.org/officeDocument/2006/relationships/image" Target="../media/image-4-13.svg"/><Relationship Id="rId14" Type="http://schemas.openxmlformats.org/officeDocument/2006/relationships/image" Target="../media/image-4-14.jpe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jpe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image" Target="../media/image-7-10.png"/><Relationship Id="rId11" Type="http://schemas.openxmlformats.org/officeDocument/2006/relationships/image" Target="../media/image-7-11.svg"/><Relationship Id="rId12" Type="http://schemas.openxmlformats.org/officeDocument/2006/relationships/image" Target="../media/image-7-12.png"/><Relationship Id="rId13" Type="http://schemas.openxmlformats.org/officeDocument/2006/relationships/image" Target="../media/image-7-13.svg"/><Relationship Id="rId14" Type="http://schemas.openxmlformats.org/officeDocument/2006/relationships/image" Target="../media/image-7-14.jpe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image" Target="../media/image-8-10.png"/><Relationship Id="rId11" Type="http://schemas.openxmlformats.org/officeDocument/2006/relationships/image" Target="../media/image-8-11.svg"/><Relationship Id="rId12" Type="http://schemas.openxmlformats.org/officeDocument/2006/relationships/image" Target="../media/image-8-12.png"/><Relationship Id="rId13" Type="http://schemas.openxmlformats.org/officeDocument/2006/relationships/image" Target="../media/image-8-13.svg"/><Relationship Id="rId14" Type="http://schemas.openxmlformats.org/officeDocument/2006/relationships/image" Target="../media/image-8-14.jpe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svg"/><Relationship Id="rId6" Type="http://schemas.openxmlformats.org/officeDocument/2006/relationships/image" Target="../media/image-11-6.png"/><Relationship Id="rId7" Type="http://schemas.openxmlformats.org/officeDocument/2006/relationships/image" Target="../media/image-11-7.sv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85943" y="1269968"/>
            <a:ext cx="304792" cy="304792"/>
          </a:xfrm>
          <a:prstGeom prst="rect">
            <a:avLst/>
          </a:prstGeom>
        </p:spPr>
      </p:pic>
      <p:pic>
        <p:nvPicPr>
          <p:cNvPr id="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75721" y="5333867"/>
            <a:ext cx="406390" cy="406390"/>
          </a:xfrm>
          <a:prstGeom prst="rect">
            <a:avLst/>
          </a:prstGeom>
        </p:spPr>
      </p:pic>
      <p:pic>
        <p:nvPicPr>
          <p:cNvPr id="4" name="Image 2" descr="preencoded.png">    </p:cNvPr>
          <p:cNvPicPr>
            <a:picLocks noChangeAspect="1"/>
          </p:cNvPicPr>
          <p:nvPr/>
        </p:nvPicPr>
        <p:blipFill>
          <a:blip r:embed="rId5"/>
          <a:stretch>
            <a:fillRect/>
          </a:stretch>
        </p:blipFill>
        <p:spPr>
          <a:xfrm>
            <a:off x="380990" y="5714857"/>
            <a:ext cx="1269968" cy="761981"/>
          </a:xfrm>
          <a:prstGeom prst="rect">
            <a:avLst/>
          </a:prstGeom>
        </p:spPr>
      </p:pic>
      <p:pic>
        <p:nvPicPr>
          <p:cNvPr id="5" name="Image 3" descr="preencoded.png">    </p:cNvPr>
          <p:cNvPicPr>
            <a:picLocks noChangeAspect="1"/>
          </p:cNvPicPr>
          <p:nvPr/>
        </p:nvPicPr>
        <p:blipFill>
          <a:blip r:embed="rId6"/>
          <a:stretch>
            <a:fillRect/>
          </a:stretch>
        </p:blipFill>
        <p:spPr>
          <a:xfrm>
            <a:off x="10540736" y="5714857"/>
            <a:ext cx="1269968" cy="761981"/>
          </a:xfrm>
          <a:prstGeom prst="rect">
            <a:avLst/>
          </a:prstGeom>
        </p:spPr>
      </p:pic>
      <p:pic>
        <p:nvPicPr>
          <p:cNvPr id="6" name="Image 4" descr="preencoded.png">    </p:cNvPr>
          <p:cNvPicPr>
            <a:picLocks noChangeAspect="1"/>
          </p:cNvPicPr>
          <p:nvPr/>
        </p:nvPicPr>
        <p:blipFill>
          <a:blip r:embed="rId7"/>
          <a:srcRect l="0" r="0" t="0" b="0"/>
          <a:stretch/>
        </p:blipFill>
        <p:spPr>
          <a:xfrm>
            <a:off x="3555911" y="6730832"/>
            <a:ext cx="5079873" cy="50799"/>
          </a:xfrm>
          <a:prstGeom prst="rect">
            <a:avLst/>
          </a:prstGeom>
        </p:spPr>
      </p:pic>
      <p:sp>
        <p:nvSpPr>
          <p:cNvPr id="7" name="Text 0"/>
          <p:cNvSpPr/>
          <p:nvPr/>
        </p:nvSpPr>
        <p:spPr>
          <a:xfrm>
            <a:off x="1015975" y="1904952"/>
            <a:ext cx="9905752" cy="1523962"/>
          </a:xfrm>
          <a:prstGeom prst="rect">
            <a:avLst/>
          </a:prstGeom>
          <a:noFill/>
          <a:ln/>
        </p:spPr>
        <p:txBody>
          <a:bodyPr wrap="square" lIns="1016" tIns="1016" rIns="1016" bIns="1016" rtlCol="0" anchor="t"/>
          <a:lstStyle/>
          <a:p>
            <a:pPr algn="l" indent="0" marL="0">
              <a:lnSpc>
                <a:spcPct val="130000"/>
              </a:lnSpc>
              <a:buNone/>
            </a:pPr>
            <a:r>
              <a:rPr lang="en-US" sz="4100" b="1" dirty="0">
                <a:solidFill>
                  <a:srgbClr val="F9DAC1"/>
                </a:solidFill>
                <a:latin typeface="Georgia" pitchFamily="34" charset="0"/>
                <a:ea typeface="Georgia" pitchFamily="34" charset="-122"/>
                <a:cs typeface="Georgia" pitchFamily="34" charset="-120"/>
              </a:rPr>
              <a:t>Customer Shopping Behavior Analysis</a:t>
            </a:r>
            <a:pPr algn="l" indent="0" marL="0">
              <a:lnSpc>
                <a:spcPct val="130000"/>
              </a:lnSpc>
              <a:buNone/>
            </a:pPr>
            <a:r>
              <a:rPr lang="en-US" sz="4100" dirty="0">
                <a:solidFill>
                  <a:srgbClr val="F9DAC1"/>
                </a:solidFill>
                <a:latin typeface="Georgia" pitchFamily="34" charset="0"/>
                <a:ea typeface="Georgia" pitchFamily="34" charset="-122"/>
                <a:cs typeface="Georgia" pitchFamily="34" charset="-120"/>
              </a:rPr>
              <a:t>
</a:t>
            </a:r>
            <a:endParaRPr lang="en-US" sz="4100" dirty="0"/>
          </a:p>
        </p:txBody>
      </p:sp>
      <p:sp>
        <p:nvSpPr>
          <p:cNvPr id="8" name="Text 1"/>
          <p:cNvSpPr/>
          <p:nvPr/>
        </p:nvSpPr>
        <p:spPr>
          <a:xfrm>
            <a:off x="1015975" y="3733707"/>
            <a:ext cx="8127797" cy="812780"/>
          </a:xfrm>
          <a:prstGeom prst="rect">
            <a:avLst/>
          </a:prstGeom>
          <a:noFill/>
          <a:ln/>
        </p:spPr>
        <p:txBody>
          <a:bodyPr wrap="square" lIns="1016" tIns="1016" rIns="1016" bIns="1016" rtlCol="0" anchor="t"/>
          <a:lstStyle/>
          <a:p>
            <a:pPr algn="l" indent="0" marL="0">
              <a:lnSpc>
                <a:spcPct val="130000"/>
              </a:lnSpc>
              <a:buNone/>
            </a:pPr>
            <a:r>
              <a:rPr lang="en-US" sz="1700" i="1" dirty="0">
                <a:solidFill>
                  <a:srgbClr val="C8B6A6"/>
                </a:solidFill>
                <a:latin typeface="Calibri" pitchFamily="34" charset="0"/>
                <a:ea typeface="Calibri" pitchFamily="34" charset="-122"/>
                <a:cs typeface="Calibri" pitchFamily="34" charset="-120"/>
              </a:rPr>
              <a:t>A comprehensive guide for Intermediate</a:t>
            </a:r>
            <a:pPr algn="l" indent="0" marL="0">
              <a:lnSpc>
                <a:spcPct val="130000"/>
              </a:lnSpc>
              <a:buNone/>
            </a:pPr>
            <a:r>
              <a:rPr lang="en-US" sz="1700" dirty="0">
                <a:solidFill>
                  <a:srgbClr val="C8B6A6"/>
                </a:solidFill>
                <a:latin typeface="Calibri" pitchFamily="34" charset="0"/>
                <a:ea typeface="Calibri" pitchFamily="34" charset="-122"/>
                <a:cs typeface="Calibri" pitchFamily="34" charset="-120"/>
              </a:rPr>
              <a:t>
</a:t>
            </a:r>
            <a:endParaRPr lang="en-US" sz="1700" dirty="0"/>
          </a:p>
        </p:txBody>
      </p:sp>
      <p:sp>
        <p:nvSpPr>
          <p:cNvPr id="9" name="Text 2"/>
          <p:cNvSpPr/>
          <p:nvPr/>
        </p:nvSpPr>
        <p:spPr>
          <a:xfrm>
            <a:off x="1015975" y="6476838"/>
            <a:ext cx="3809905" cy="304792"/>
          </a:xfrm>
          <a:prstGeom prst="rect">
            <a:avLst/>
          </a:prstGeom>
          <a:noFill/>
          <a:ln/>
        </p:spPr>
        <p:txBody>
          <a:bodyPr wrap="square" lIns="1016" tIns="1016" rIns="1016" bIns="1016" rtlCol="0" anchor="t"/>
          <a:lstStyle/>
          <a:p>
            <a:pPr algn="l" indent="0" marL="0">
              <a:lnSpc>
                <a:spcPct val="130000"/>
              </a:lnSpc>
              <a:buNone/>
            </a:pPr>
            <a:r>
              <a:rPr lang="en-US" sz="1400" dirty="0">
                <a:solidFill>
                  <a:srgbClr val="F9DAC1"/>
                </a:solidFill>
                <a:latin typeface="Calibri" pitchFamily="34" charset="0"/>
                <a:ea typeface="Calibri" pitchFamily="34" charset="-122"/>
                <a:cs typeface="Calibri" pitchFamily="34" charset="-120"/>
              </a:rPr>
              <a:t>sumit</a:t>
            </a:r>
            <a:pPr algn="l" indent="0" marL="0">
              <a:lnSpc>
                <a:spcPct val="130000"/>
              </a:lnSpc>
              <a:buNone/>
            </a:pPr>
            <a:r>
              <a:rPr lang="en-US" sz="1400" dirty="0">
                <a:solidFill>
                  <a:srgbClr val="F9DAC1"/>
                </a:solidFill>
                <a:latin typeface="Calibri" pitchFamily="34" charset="0"/>
                <a:ea typeface="Calibri" pitchFamily="34" charset="-122"/>
                <a:cs typeface="Calibri" pitchFamily="34" charset="-120"/>
              </a:rPr>
              <a:t>
</a:t>
            </a:r>
            <a:endParaRPr lang="en-US" sz="1400" dirty="0"/>
          </a:p>
        </p:txBody>
      </p:sp>
      <p:sp>
        <p:nvSpPr>
          <p:cNvPr id="10" name="Text 3"/>
          <p:cNvSpPr/>
          <p:nvPr/>
        </p:nvSpPr>
        <p:spPr>
          <a:xfrm>
            <a:off x="1015975" y="6146646"/>
            <a:ext cx="5333867" cy="279393"/>
          </a:xfrm>
          <a:prstGeom prst="rect">
            <a:avLst/>
          </a:prstGeom>
          <a:noFill/>
          <a:ln/>
        </p:spPr>
        <p:txBody>
          <a:bodyPr wrap="square" lIns="1016" tIns="1016" rIns="1016" bIns="1016" rtlCol="0" anchor="t"/>
          <a:lstStyle/>
          <a:p>
            <a:pPr algn="l" indent="0" marL="0">
              <a:lnSpc>
                <a:spcPct val="130000"/>
              </a:lnSpc>
              <a:buNone/>
            </a:pPr>
            <a:r>
              <a:rPr lang="en-US" sz="1200" dirty="0">
                <a:solidFill>
                  <a:srgbClr val="E3A087"/>
                </a:solidFill>
                <a:latin typeface="Calibri" pitchFamily="34" charset="0"/>
                <a:ea typeface="Calibri" pitchFamily="34" charset="-122"/>
                <a:cs typeface="Calibri" pitchFamily="34" charset="-120"/>
              </a:rPr>
              <a:t>xys</a:t>
            </a:r>
            <a:pPr algn="l" indent="0" marL="0">
              <a:lnSpc>
                <a:spcPct val="130000"/>
              </a:lnSpc>
              <a:buNone/>
            </a:pPr>
            <a:r>
              <a:rPr lang="en-US" sz="1200" dirty="0">
                <a:solidFill>
                  <a:srgbClr val="E3A087"/>
                </a:solidFill>
                <a:latin typeface="Calibri" pitchFamily="34" charset="0"/>
                <a:ea typeface="Calibri" pitchFamily="34" charset="-122"/>
                <a:cs typeface="Calibri" pitchFamily="34" charset="-120"/>
              </a:rPr>
              <a:t>
</a:t>
            </a:r>
            <a:endParaRPr lang="en-US" sz="1200" dirty="0"/>
          </a:p>
        </p:txBody>
      </p:sp>
      <p:sp>
        <p:nvSpPr>
          <p:cNvPr id="11" name="Text 4"/>
          <p:cNvSpPr/>
          <p:nvPr/>
        </p:nvSpPr>
        <p:spPr>
          <a:xfrm>
            <a:off x="4952876" y="6502237"/>
            <a:ext cx="3047924" cy="279393"/>
          </a:xfrm>
          <a:prstGeom prst="rect">
            <a:avLst/>
          </a:prstGeom>
          <a:noFill/>
          <a:ln/>
        </p:spPr>
        <p:txBody>
          <a:bodyPr wrap="square" lIns="1016" tIns="1016" rIns="1016" bIns="1016" rtlCol="0" anchor="t"/>
          <a:lstStyle/>
          <a:p>
            <a:pPr algn="l" indent="0" marL="0">
              <a:lnSpc>
                <a:spcPct val="130000"/>
              </a:lnSpc>
              <a:buNone/>
            </a:pPr>
            <a:r>
              <a:rPr lang="en-US" sz="1200" dirty="0">
                <a:solidFill>
                  <a:srgbClr val="C8B6A6"/>
                </a:solidFill>
                <a:latin typeface="Calibri" pitchFamily="34" charset="0"/>
                <a:ea typeface="Calibri" pitchFamily="34" charset="-122"/>
                <a:cs typeface="Calibri" pitchFamily="34" charset="-120"/>
              </a:rPr>
              <a:t>September 20, 2026</a:t>
            </a:r>
            <a:pPr algn="l" indent="0" marL="0">
              <a:lnSpc>
                <a:spcPct val="130000"/>
              </a:lnSpc>
              <a:buNone/>
            </a:pPr>
            <a:r>
              <a:rPr lang="en-US" sz="1200" dirty="0">
                <a:solidFill>
                  <a:srgbClr val="C8B6A6"/>
                </a:solidFill>
                <a:latin typeface="Calibri" pitchFamily="34" charset="0"/>
                <a:ea typeface="Calibri" pitchFamily="34" charset="-122"/>
                <a:cs typeface="Calibri" pitchFamily="34" charset="-120"/>
              </a:rPr>
              <a:t>
</a:t>
            </a:r>
            <a:endParaRPr lang="en-US" sz="1200" dirty="0"/>
          </a:p>
        </p:txBody>
      </p:sp>
      <p:pic>
        <p:nvPicPr>
          <p:cNvPr id="12" name="Image 5" descr="preencoded.png">    </p:cNvPr>
          <p:cNvPicPr>
            <a:picLocks noChangeAspect="1"/>
          </p:cNvPicPr>
          <p:nvPr/>
        </p:nvPicPr>
        <p:blipFill>
          <a:blip r:embed="rId8"/>
          <a:stretch>
            <a:fillRect/>
          </a:stretch>
        </p:blipFill>
        <p:spPr>
          <a:xfrm>
            <a:off x="0" y="0"/>
            <a:ext cx="12145975" cy="101597"/>
          </a:xfrm>
          <a:prstGeom prst="rect">
            <a:avLst/>
          </a:prstGeom>
        </p:spPr>
      </p:pic>
      <p:sp>
        <p:nvSpPr>
          <p:cNvPr id="13" name="Shape 5"/>
          <p:cNvSpPr/>
          <p:nvPr/>
        </p:nvSpPr>
        <p:spPr>
          <a:xfrm>
            <a:off x="1015975" y="1600160"/>
            <a:ext cx="711182" cy="63498"/>
          </a:xfrm>
          <a:prstGeom prst="rect">
            <a:avLst/>
          </a:prstGeom>
          <a:solidFill>
            <a:srgbClr val="E3A087"/>
          </a:solidFill>
          <a:ln/>
        </p:spPr>
      </p:sp>
      <p:sp>
        <p:nvSpPr>
          <p:cNvPr id="14" name="Text 6"/>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000800" y="634984"/>
            <a:ext cx="3555911" cy="5587860"/>
          </a:xfrm>
          <a:prstGeom prst="rect">
            <a:avLst/>
          </a:prstGeom>
        </p:spPr>
      </p:pic>
      <p:pic>
        <p:nvPicPr>
          <p:cNvPr id="3" name="Image 1" descr="preencoded.png">    </p:cNvPr>
          <p:cNvPicPr>
            <a:picLocks noChangeAspect="1"/>
          </p:cNvPicPr>
          <p:nvPr/>
        </p:nvPicPr>
        <p:blipFill>
          <a:blip r:embed="rId2"/>
          <a:stretch>
            <a:fillRect/>
          </a:stretch>
        </p:blipFill>
        <p:spPr>
          <a:xfrm>
            <a:off x="4876678" y="190495"/>
            <a:ext cx="1904952" cy="1904952"/>
          </a:xfrm>
          <a:prstGeom prst="rect">
            <a:avLst/>
          </a:prstGeom>
        </p:spPr>
      </p:pic>
      <p:pic>
        <p:nvPicPr>
          <p:cNvPr id="4"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84905" y="5841854"/>
            <a:ext cx="761981" cy="761981"/>
          </a:xfrm>
          <a:prstGeom prst="rect">
            <a:avLst/>
          </a:prstGeom>
        </p:spPr>
      </p:pic>
      <p:pic>
        <p:nvPicPr>
          <p:cNvPr id="5"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7733" y="126997"/>
            <a:ext cx="1478242" cy="1523962"/>
          </a:xfrm>
          <a:prstGeom prst="rect">
            <a:avLst/>
          </a:prstGeom>
        </p:spPr>
      </p:pic>
      <p:pic>
        <p:nvPicPr>
          <p:cNvPr id="6" name="Image 4" descr="preencoded.png">    </p:cNvPr>
          <p:cNvPicPr>
            <a:picLocks noChangeAspect="1"/>
          </p:cNvPicPr>
          <p:nvPr/>
        </p:nvPicPr>
        <p:blipFill>
          <a:blip r:embed="rId7"/>
          <a:stretch>
            <a:fillRect/>
          </a:stretch>
        </p:blipFill>
        <p:spPr>
          <a:xfrm>
            <a:off x="0" y="6730832"/>
            <a:ext cx="5079873" cy="81448"/>
          </a:xfrm>
          <a:prstGeom prst="rect">
            <a:avLst/>
          </a:prstGeom>
        </p:spPr>
      </p:pic>
      <p:pic>
        <p:nvPicPr>
          <p:cNvPr id="7" name="Image 5" descr="preencoded.png">    </p:cNvPr>
          <p:cNvPicPr>
            <a:picLocks noChangeAspect="1"/>
          </p:cNvPicPr>
          <p:nvPr/>
        </p:nvPicPr>
        <p:blipFill>
          <a:blip r:embed="rId8"/>
          <a:srcRect l="0" r="0" t="0" b="0"/>
          <a:stretch/>
        </p:blipFill>
        <p:spPr>
          <a:xfrm>
            <a:off x="8127797" y="761981"/>
            <a:ext cx="3301917" cy="5333867"/>
          </a:xfrm>
          <a:prstGeom prst="rect">
            <a:avLst/>
          </a:prstGeom>
        </p:spPr>
      </p:pic>
      <p:pic>
        <p:nvPicPr>
          <p:cNvPr id="8" name="Image 6" descr="preencoded.png">    </p:cNvPr>
          <p:cNvPicPr>
            <a:picLocks noChangeAspect="1"/>
          </p:cNvPicPr>
          <p:nvPr/>
        </p:nvPicPr>
        <p:blipFill>
          <a:blip r:embed="rId9"/>
          <a:stretch>
            <a:fillRect/>
          </a:stretch>
        </p:blipFill>
        <p:spPr>
          <a:xfrm>
            <a:off x="292093" y="304792"/>
            <a:ext cx="812780" cy="812780"/>
          </a:xfrm>
          <a:prstGeom prst="rect">
            <a:avLst/>
          </a:prstGeom>
        </p:spPr>
      </p:pic>
      <p:pic>
        <p:nvPicPr>
          <p:cNvPr id="9" name="Image 7" descr="preencoded.png">    </p:cNvPr>
          <p:cNvPicPr>
            <a:picLocks noChangeAspect="1"/>
          </p:cNvPicPr>
          <p:nvPr/>
        </p:nvPicPr>
        <p:blipFill>
          <a:blip r:embed="rId10"/>
          <a:stretch>
            <a:fillRect/>
          </a:stretch>
        </p:blipFill>
        <p:spPr>
          <a:xfrm>
            <a:off x="0" y="0"/>
            <a:ext cx="12145975" cy="101597"/>
          </a:xfrm>
          <a:prstGeom prst="rect">
            <a:avLst/>
          </a:prstGeom>
        </p:spPr>
      </p:pic>
      <p:sp>
        <p:nvSpPr>
          <p:cNvPr id="10" name="Text 0"/>
          <p:cNvSpPr/>
          <p:nvPr/>
        </p:nvSpPr>
        <p:spPr>
          <a:xfrm>
            <a:off x="1015975" y="1803355"/>
            <a:ext cx="6502237" cy="1193770"/>
          </a:xfrm>
          <a:prstGeom prst="rect">
            <a:avLst/>
          </a:prstGeom>
          <a:noFill/>
          <a:ln/>
        </p:spPr>
        <p:txBody>
          <a:bodyPr wrap="square" lIns="1016" tIns="1016" rIns="1016" bIns="1016" rtlCol="0" anchor="t"/>
          <a:lstStyle/>
          <a:p>
            <a:pPr algn="l" indent="0" marL="0">
              <a:lnSpc>
                <a:spcPct val="120000"/>
              </a:lnSpc>
              <a:buNone/>
            </a:pPr>
            <a:r>
              <a:rPr lang="en-US" sz="3200" b="1" dirty="0">
                <a:solidFill>
                  <a:srgbClr val="F9DAC1"/>
                </a:solidFill>
                <a:latin typeface="Georgia" pitchFamily="34" charset="0"/>
                <a:ea typeface="Georgia" pitchFamily="34" charset="-122"/>
                <a:cs typeface="Georgia" pitchFamily="34" charset="-120"/>
              </a:rPr>
              <a:t>Customer Shopping Behavior Analysis
</a:t>
            </a:r>
            <a:endParaRPr lang="en-US" sz="3200" dirty="0"/>
          </a:p>
        </p:txBody>
      </p:sp>
      <p:sp>
        <p:nvSpPr>
          <p:cNvPr id="11" name="Text 1"/>
          <p:cNvSpPr/>
          <p:nvPr/>
        </p:nvSpPr>
        <p:spPr>
          <a:xfrm>
            <a:off x="1015975" y="3276518"/>
            <a:ext cx="6502237" cy="2692333"/>
          </a:xfrm>
          <a:prstGeom prst="rect">
            <a:avLst/>
          </a:prstGeom>
          <a:noFill/>
          <a:ln/>
        </p:spPr>
        <p:txBody>
          <a:bodyPr wrap="square" lIns="1016" tIns="1016" rIns="1016" bIns="1016" rtlCol="0" anchor="t"/>
          <a:lstStyle/>
          <a:p>
            <a:pPr algn="l" indent="0" marL="0">
              <a:lnSpc>
                <a:spcPct val="150000"/>
              </a:lnSpc>
              <a:buNone/>
            </a:pPr>
            <a:r>
              <a:rPr lang="en-US" sz="1300" dirty="0">
                <a:solidFill>
                  <a:srgbClr val="C8B6A6"/>
                </a:solidFill>
                <a:latin typeface="Calibri" pitchFamily="34" charset="0"/>
                <a:ea typeface="Calibri" pitchFamily="34" charset="-122"/>
                <a:cs typeface="Calibri" pitchFamily="34" charset="-120"/>
              </a:rPr>
              <a:t>This presentation delves into an in-depth analysis of customer shopping behavior derived from 3,900 transactions across diverse product categories. By examining spending patterns, customer segments, and product preferences, we aim to provide actionable insights that can inform strategic business decisions. Our findings will guide marketing strategies and enhance customer engagement through targeted initiatives.
</a:t>
            </a:r>
            <a:endParaRPr lang="en-US" sz="1300" dirty="0"/>
          </a:p>
        </p:txBody>
      </p:sp>
      <p:sp>
        <p:nvSpPr>
          <p:cNvPr id="12" name="Shape 2"/>
          <p:cNvSpPr/>
          <p:nvPr/>
        </p:nvSpPr>
        <p:spPr>
          <a:xfrm>
            <a:off x="1015975" y="1498563"/>
            <a:ext cx="711182" cy="63498"/>
          </a:xfrm>
          <a:prstGeom prst="rect">
            <a:avLst/>
          </a:prstGeom>
          <a:solidFill>
            <a:srgbClr val="E3A087"/>
          </a:solidFill>
          <a:ln/>
        </p:spPr>
      </p:sp>
      <p:sp>
        <p:nvSpPr>
          <p:cNvPr id="13" name="Text 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89778" y="-1269968"/>
            <a:ext cx="3256197" cy="4444889"/>
          </a:xfrm>
          <a:prstGeom prst="rect">
            <a:avLst/>
          </a:prstGeom>
        </p:spPr>
      </p:pic>
      <p:sp>
        <p:nvSpPr>
          <p:cNvPr id="3" name="Shape 0"/>
          <p:cNvSpPr/>
          <p:nvPr/>
        </p:nvSpPr>
        <p:spPr>
          <a:xfrm>
            <a:off x="761981" y="1396964"/>
            <a:ext cx="10667733" cy="1473165"/>
          </a:xfrm>
          <a:prstGeom prst="roundRect">
            <a:avLst>
              <a:gd name="adj" fmla="val 15517"/>
            </a:avLst>
          </a:prstGeom>
          <a:solidFill>
            <a:srgbClr val="000000">
              <a:alpha val="0"/>
            </a:srgbClr>
          </a:solidFill>
          <a:ln w="12700">
            <a:solidFill>
              <a:srgbClr val="F9DAC1">
                <a:alpha val="18000"/>
              </a:srgbClr>
            </a:solidFill>
            <a:prstDash val="solid"/>
          </a:ln>
        </p:spPr>
      </p:sp>
      <p:sp>
        <p:nvSpPr>
          <p:cNvPr id="4" name="Shape 1"/>
          <p:cNvSpPr/>
          <p:nvPr/>
        </p:nvSpPr>
        <p:spPr>
          <a:xfrm>
            <a:off x="761981" y="3009825"/>
            <a:ext cx="10667733" cy="1473162"/>
          </a:xfrm>
          <a:prstGeom prst="roundRect">
            <a:avLst>
              <a:gd name="adj" fmla="val 15517"/>
            </a:avLst>
          </a:prstGeom>
          <a:solidFill>
            <a:srgbClr val="000000">
              <a:alpha val="0"/>
            </a:srgbClr>
          </a:solidFill>
          <a:ln w="12700">
            <a:solidFill>
              <a:srgbClr val="F9DAC1">
                <a:alpha val="18000"/>
              </a:srgbClr>
            </a:solidFill>
            <a:prstDash val="solid"/>
          </a:ln>
        </p:spPr>
      </p:sp>
      <p:sp>
        <p:nvSpPr>
          <p:cNvPr id="5" name="Shape 2"/>
          <p:cNvSpPr/>
          <p:nvPr/>
        </p:nvSpPr>
        <p:spPr>
          <a:xfrm>
            <a:off x="761981" y="4622685"/>
            <a:ext cx="10667733" cy="1473162"/>
          </a:xfrm>
          <a:prstGeom prst="roundRect">
            <a:avLst>
              <a:gd name="adj" fmla="val 15517"/>
            </a:avLst>
          </a:prstGeom>
          <a:solidFill>
            <a:srgbClr val="000000">
              <a:alpha val="0"/>
            </a:srgbClr>
          </a:solidFill>
          <a:ln w="12700">
            <a:solidFill>
              <a:srgbClr val="F9DAC1">
                <a:alpha val="18000"/>
              </a:srgbClr>
            </a:solidFill>
            <a:prstDash val="solid"/>
          </a:ln>
        </p:spPr>
      </p:sp>
      <p:pic>
        <p:nvPicPr>
          <p:cNvPr id="6" name="Image 1" descr="preencoded.png">    </p:cNvPr>
          <p:cNvPicPr>
            <a:picLocks noChangeAspect="1"/>
          </p:cNvPicPr>
          <p:nvPr/>
        </p:nvPicPr>
        <p:blipFill>
          <a:blip r:embed="rId2"/>
          <a:stretch>
            <a:fillRect/>
          </a:stretch>
        </p:blipFill>
        <p:spPr>
          <a:xfrm>
            <a:off x="10667733" y="5333867"/>
            <a:ext cx="1396965" cy="1396965"/>
          </a:xfrm>
          <a:prstGeom prst="rect">
            <a:avLst/>
          </a:prstGeom>
        </p:spPr>
      </p:pic>
      <p:pic>
        <p:nvPicPr>
          <p:cNvPr id="7" name="Image 2" descr="preencoded.png">    </p:cNvPr>
          <p:cNvPicPr>
            <a:picLocks noChangeAspect="1"/>
          </p:cNvPicPr>
          <p:nvPr/>
        </p:nvPicPr>
        <p:blipFill>
          <a:blip r:embed="rId3"/>
          <a:stretch>
            <a:fillRect/>
          </a:stretch>
        </p:blipFill>
        <p:spPr>
          <a:xfrm>
            <a:off x="0" y="1269968"/>
            <a:ext cx="63498" cy="4444889"/>
          </a:xfrm>
          <a:prstGeom prst="rect">
            <a:avLst/>
          </a:prstGeom>
        </p:spPr>
      </p:pic>
      <p:pic>
        <p:nvPicPr>
          <p:cNvPr id="8" name="Image 3" descr="preencoded.png">    </p:cNvPr>
          <p:cNvPicPr>
            <a:picLocks noChangeAspect="1"/>
          </p:cNvPicPr>
          <p:nvPr/>
        </p:nvPicPr>
        <p:blipFill>
          <a:blip r:embed="rId4"/>
          <a:stretch>
            <a:fillRect/>
          </a:stretch>
        </p:blipFill>
        <p:spPr>
          <a:xfrm>
            <a:off x="10413740" y="6286343"/>
            <a:ext cx="1269968" cy="431789"/>
          </a:xfrm>
          <a:prstGeom prst="rect">
            <a:avLst/>
          </a:prstGeom>
        </p:spPr>
      </p:pic>
      <p:pic>
        <p:nvPicPr>
          <p:cNvPr id="9" name="Image 4" descr="preencoded.png">    </p:cNvPr>
          <p:cNvPicPr>
            <a:picLocks noChangeAspect="1"/>
          </p:cNvPicPr>
          <p:nvPr/>
        </p:nvPicPr>
        <p:blipFill>
          <a:blip r:embed="rId5"/>
          <a:stretch>
            <a:fillRect/>
          </a:stretch>
        </p:blipFill>
        <p:spPr>
          <a:xfrm>
            <a:off x="0" y="0"/>
            <a:ext cx="12145975" cy="76198"/>
          </a:xfrm>
          <a:prstGeom prst="rect">
            <a:avLst/>
          </a:prstGeom>
        </p:spPr>
      </p:pic>
      <p:sp>
        <p:nvSpPr>
          <p:cNvPr id="10" name="Text 3"/>
          <p:cNvSpPr/>
          <p:nvPr/>
        </p:nvSpPr>
        <p:spPr>
          <a:xfrm>
            <a:off x="761981" y="507987"/>
            <a:ext cx="10667733"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9DAC1"/>
                </a:solidFill>
                <a:latin typeface="Georgia" pitchFamily="34" charset="0"/>
                <a:ea typeface="Georgia" pitchFamily="34" charset="-122"/>
                <a:cs typeface="Georgia" pitchFamily="34" charset="-120"/>
              </a:rPr>
              <a:t>Project Overview
</a:t>
            </a:r>
            <a:endParaRPr lang="en-US" sz="2900" dirty="0"/>
          </a:p>
        </p:txBody>
      </p:sp>
      <p:sp>
        <p:nvSpPr>
          <p:cNvPr id="11" name="Text 4"/>
          <p:cNvSpPr/>
          <p:nvPr/>
        </p:nvSpPr>
        <p:spPr>
          <a:xfrm>
            <a:off x="3992661" y="1875583"/>
            <a:ext cx="7155278" cy="233160"/>
          </a:xfrm>
          <a:prstGeom prst="rect">
            <a:avLst/>
          </a:prstGeom>
          <a:noFill/>
          <a:ln/>
        </p:spPr>
        <p:txBody>
          <a:bodyPr wrap="square" lIns="1016" tIns="1016" rIns="1016" bIns="1016" rtlCol="0" anchor="t"/>
          <a:lstStyle/>
          <a:p>
            <a:pPr indent="0" marL="0">
              <a:lnSpc>
                <a:spcPct val="122371"/>
              </a:lnSpc>
              <a:buNone/>
            </a:pPr>
            <a:r>
              <a:rPr lang="en-US" sz="1400" b="1" dirty="0">
                <a:solidFill>
                  <a:srgbClr val="F9DAC1"/>
                </a:solidFill>
                <a:latin typeface="Georgia" pitchFamily="34" charset="0"/>
                <a:ea typeface="Georgia" pitchFamily="34" charset="-122"/>
                <a:cs typeface="Georgia" pitchFamily="34" charset="-120"/>
              </a:rPr>
              <a:t>Analyzed 3900 Purchases
</a:t>
            </a:r>
            <a:endParaRPr lang="en-US" sz="1400" dirty="0"/>
          </a:p>
        </p:txBody>
      </p:sp>
      <p:sp>
        <p:nvSpPr>
          <p:cNvPr id="12" name="Text 5"/>
          <p:cNvSpPr/>
          <p:nvPr/>
        </p:nvSpPr>
        <p:spPr>
          <a:xfrm>
            <a:off x="3992661" y="2155177"/>
            <a:ext cx="7155278" cy="236333"/>
          </a:xfrm>
          <a:prstGeom prst="rect">
            <a:avLst/>
          </a:prstGeom>
          <a:noFill/>
          <a:ln/>
        </p:spPr>
        <p:txBody>
          <a:bodyPr wrap="square" lIns="1016" tIns="1016" rIns="1016" bIns="1016" rtlCol="0" anchor="t"/>
          <a:lstStyle/>
          <a:p>
            <a:pPr indent="0" marL="0">
              <a:lnSpc>
                <a:spcPct val="143316"/>
              </a:lnSpc>
              <a:buNone/>
            </a:pPr>
            <a:r>
              <a:rPr lang="en-US" sz="1200" dirty="0">
                <a:solidFill>
                  <a:srgbClr val="C8B6A6"/>
                </a:solidFill>
                <a:latin typeface="Georgia" pitchFamily="34" charset="0"/>
                <a:ea typeface="Georgia" pitchFamily="34" charset="-122"/>
                <a:cs typeface="Georgia" pitchFamily="34" charset="-120"/>
              </a:rPr>
              <a:t>Examined 3900 transactions across diverse product categories for insights.
</a:t>
            </a:r>
            <a:endParaRPr lang="en-US" sz="1200" dirty="0"/>
          </a:p>
        </p:txBody>
      </p:sp>
      <p:sp>
        <p:nvSpPr>
          <p:cNvPr id="13" name="Text 6"/>
          <p:cNvSpPr/>
          <p:nvPr/>
        </p:nvSpPr>
        <p:spPr>
          <a:xfrm>
            <a:off x="3992661" y="3488444"/>
            <a:ext cx="7155278" cy="233157"/>
          </a:xfrm>
          <a:prstGeom prst="rect">
            <a:avLst/>
          </a:prstGeom>
          <a:noFill/>
          <a:ln/>
        </p:spPr>
        <p:txBody>
          <a:bodyPr wrap="square" lIns="1016" tIns="1016" rIns="1016" bIns="1016" rtlCol="0" anchor="t"/>
          <a:lstStyle/>
          <a:p>
            <a:pPr indent="0" marL="0">
              <a:lnSpc>
                <a:spcPct val="122371"/>
              </a:lnSpc>
              <a:buNone/>
            </a:pPr>
            <a:r>
              <a:rPr lang="en-US" sz="1400" b="1" dirty="0">
                <a:solidFill>
                  <a:srgbClr val="F9DAC1"/>
                </a:solidFill>
                <a:latin typeface="Georgia" pitchFamily="34" charset="0"/>
                <a:ea typeface="Georgia" pitchFamily="34" charset="-122"/>
                <a:cs typeface="Georgia" pitchFamily="34" charset="-120"/>
              </a:rPr>
              <a:t>Insights into Spending Patterns
</a:t>
            </a:r>
            <a:endParaRPr lang="en-US" sz="1400" dirty="0"/>
          </a:p>
        </p:txBody>
      </p:sp>
      <p:sp>
        <p:nvSpPr>
          <p:cNvPr id="14" name="Text 7"/>
          <p:cNvSpPr/>
          <p:nvPr/>
        </p:nvSpPr>
        <p:spPr>
          <a:xfrm>
            <a:off x="3992661" y="3768035"/>
            <a:ext cx="7155278" cy="236333"/>
          </a:xfrm>
          <a:prstGeom prst="rect">
            <a:avLst/>
          </a:prstGeom>
          <a:noFill/>
          <a:ln/>
        </p:spPr>
        <p:txBody>
          <a:bodyPr wrap="square" lIns="1016" tIns="1016" rIns="1016" bIns="1016" rtlCol="0" anchor="t"/>
          <a:lstStyle/>
          <a:p>
            <a:pPr indent="0" marL="0">
              <a:lnSpc>
                <a:spcPct val="143316"/>
              </a:lnSpc>
              <a:buNone/>
            </a:pPr>
            <a:r>
              <a:rPr lang="en-US" sz="1200" dirty="0">
                <a:solidFill>
                  <a:srgbClr val="C8B6A6"/>
                </a:solidFill>
                <a:latin typeface="Georgia" pitchFamily="34" charset="0"/>
                <a:ea typeface="Georgia" pitchFamily="34" charset="-122"/>
                <a:cs typeface="Georgia" pitchFamily="34" charset="-120"/>
              </a:rPr>
              <a:t>Uncovered spending behaviors to inform strategic business decisions.
</a:t>
            </a:r>
            <a:endParaRPr lang="en-US" sz="1200" dirty="0"/>
          </a:p>
        </p:txBody>
      </p:sp>
      <p:sp>
        <p:nvSpPr>
          <p:cNvPr id="15" name="Text 8"/>
          <p:cNvSpPr/>
          <p:nvPr/>
        </p:nvSpPr>
        <p:spPr>
          <a:xfrm>
            <a:off x="3992661" y="5101305"/>
            <a:ext cx="7155278" cy="233157"/>
          </a:xfrm>
          <a:prstGeom prst="rect">
            <a:avLst/>
          </a:prstGeom>
          <a:noFill/>
          <a:ln/>
        </p:spPr>
        <p:txBody>
          <a:bodyPr wrap="square" lIns="1016" tIns="1016" rIns="1016" bIns="1016" rtlCol="0" anchor="t"/>
          <a:lstStyle/>
          <a:p>
            <a:pPr indent="0" marL="0">
              <a:lnSpc>
                <a:spcPct val="122371"/>
              </a:lnSpc>
              <a:buNone/>
            </a:pPr>
            <a:r>
              <a:rPr lang="en-US" sz="1400" b="1" dirty="0">
                <a:solidFill>
                  <a:srgbClr val="F9DAC1"/>
                </a:solidFill>
                <a:latin typeface="Georgia" pitchFamily="34" charset="0"/>
                <a:ea typeface="Georgia" pitchFamily="34" charset="-122"/>
                <a:cs typeface="Georgia" pitchFamily="34" charset="-120"/>
              </a:rPr>
              <a:t>Understanding Customer Segments
</a:t>
            </a:r>
            <a:endParaRPr lang="en-US" sz="1400" dirty="0"/>
          </a:p>
        </p:txBody>
      </p:sp>
      <p:sp>
        <p:nvSpPr>
          <p:cNvPr id="16" name="Text 9"/>
          <p:cNvSpPr/>
          <p:nvPr/>
        </p:nvSpPr>
        <p:spPr>
          <a:xfrm>
            <a:off x="3992661" y="5380895"/>
            <a:ext cx="7155278" cy="236333"/>
          </a:xfrm>
          <a:prstGeom prst="rect">
            <a:avLst/>
          </a:prstGeom>
          <a:noFill/>
          <a:ln/>
        </p:spPr>
        <p:txBody>
          <a:bodyPr wrap="square" lIns="1016" tIns="1016" rIns="1016" bIns="1016" rtlCol="0" anchor="t"/>
          <a:lstStyle/>
          <a:p>
            <a:pPr indent="0" marL="0">
              <a:lnSpc>
                <a:spcPct val="143316"/>
              </a:lnSpc>
              <a:buNone/>
            </a:pPr>
            <a:r>
              <a:rPr lang="en-US" sz="1200" dirty="0">
                <a:solidFill>
                  <a:srgbClr val="C8B6A6"/>
                </a:solidFill>
                <a:latin typeface="Georgia" pitchFamily="34" charset="0"/>
                <a:ea typeface="Georgia" pitchFamily="34" charset="-122"/>
                <a:cs typeface="Georgia" pitchFamily="34" charset="-120"/>
              </a:rPr>
              <a:t>Identified key customer segments to enhance targeted marketing efforts.
</a:t>
            </a:r>
            <a:endParaRPr lang="en-US" sz="1200" dirty="0"/>
          </a:p>
        </p:txBody>
      </p:sp>
      <p:sp>
        <p:nvSpPr>
          <p:cNvPr id="17" name="Shape 10"/>
          <p:cNvSpPr/>
          <p:nvPr/>
        </p:nvSpPr>
        <p:spPr>
          <a:xfrm>
            <a:off x="3280883" y="1918445"/>
            <a:ext cx="466118" cy="303006"/>
          </a:xfrm>
          <a:prstGeom prst="roundRect">
            <a:avLst>
              <a:gd name="adj" fmla="val 25000"/>
            </a:avLst>
          </a:prstGeom>
          <a:solidFill>
            <a:srgbClr val="E3A087">
              <a:alpha val="10000"/>
            </a:srgbClr>
          </a:solidFill>
          <a:ln/>
        </p:spPr>
      </p:sp>
      <p:sp>
        <p:nvSpPr>
          <p:cNvPr id="18" name="Text 11"/>
          <p:cNvSpPr/>
          <p:nvPr/>
        </p:nvSpPr>
        <p:spPr>
          <a:xfrm>
            <a:off x="3280883" y="1918445"/>
            <a:ext cx="466118" cy="303006"/>
          </a:xfrm>
          <a:prstGeom prst="rect">
            <a:avLst/>
          </a:prstGeom>
          <a:noFill/>
          <a:ln/>
        </p:spPr>
        <p:txBody>
          <a:bodyPr wrap="square" lIns="0" tIns="0" rIns="0" bIns="0" rtlCol="0" anchor="t"/>
          <a:lstStyle/>
          <a:p>
            <a:pPr algn="ctr" indent="0" marL="0">
              <a:lnSpc>
                <a:spcPct val="200000"/>
              </a:lnSpc>
              <a:buNone/>
            </a:pPr>
            <a:r>
              <a:rPr lang="en-US" sz="1200" b="1" dirty="0">
                <a:solidFill>
                  <a:srgbClr val="E3A087"/>
                </a:solidFill>
                <a:latin typeface="Calibri" pitchFamily="34" charset="0"/>
                <a:ea typeface="Calibri" pitchFamily="34" charset="-122"/>
                <a:cs typeface="Calibri" pitchFamily="34" charset="-120"/>
              </a:rPr>
              <a:t>01
</a:t>
            </a:r>
            <a:endParaRPr lang="en-US" sz="1200" dirty="0"/>
          </a:p>
        </p:txBody>
      </p:sp>
      <p:sp>
        <p:nvSpPr>
          <p:cNvPr id="19" name="Shape 12"/>
          <p:cNvSpPr/>
          <p:nvPr/>
        </p:nvSpPr>
        <p:spPr>
          <a:xfrm>
            <a:off x="3280883" y="3531305"/>
            <a:ext cx="466118" cy="303006"/>
          </a:xfrm>
          <a:prstGeom prst="roundRect">
            <a:avLst>
              <a:gd name="adj" fmla="val 25000"/>
            </a:avLst>
          </a:prstGeom>
          <a:solidFill>
            <a:srgbClr val="E3A087">
              <a:alpha val="10000"/>
            </a:srgbClr>
          </a:solidFill>
          <a:ln/>
        </p:spPr>
      </p:sp>
      <p:sp>
        <p:nvSpPr>
          <p:cNvPr id="20" name="Text 13"/>
          <p:cNvSpPr/>
          <p:nvPr/>
        </p:nvSpPr>
        <p:spPr>
          <a:xfrm>
            <a:off x="3280883" y="3531305"/>
            <a:ext cx="466118" cy="303006"/>
          </a:xfrm>
          <a:prstGeom prst="rect">
            <a:avLst/>
          </a:prstGeom>
          <a:noFill/>
          <a:ln/>
        </p:spPr>
        <p:txBody>
          <a:bodyPr wrap="square" lIns="0" tIns="0" rIns="0" bIns="0" rtlCol="0" anchor="t"/>
          <a:lstStyle/>
          <a:p>
            <a:pPr algn="ctr" indent="0" marL="0">
              <a:lnSpc>
                <a:spcPct val="200000"/>
              </a:lnSpc>
              <a:buNone/>
            </a:pPr>
            <a:r>
              <a:rPr lang="en-US" sz="1200" b="1" dirty="0">
                <a:solidFill>
                  <a:srgbClr val="E3A087"/>
                </a:solidFill>
                <a:latin typeface="Calibri" pitchFamily="34" charset="0"/>
                <a:ea typeface="Calibri" pitchFamily="34" charset="-122"/>
                <a:cs typeface="Calibri" pitchFamily="34" charset="-120"/>
              </a:rPr>
              <a:t>02
</a:t>
            </a:r>
            <a:endParaRPr lang="en-US" sz="1200" dirty="0"/>
          </a:p>
        </p:txBody>
      </p:sp>
      <p:sp>
        <p:nvSpPr>
          <p:cNvPr id="21" name="Shape 14"/>
          <p:cNvSpPr/>
          <p:nvPr/>
        </p:nvSpPr>
        <p:spPr>
          <a:xfrm>
            <a:off x="3280883" y="5144166"/>
            <a:ext cx="466118" cy="303006"/>
          </a:xfrm>
          <a:prstGeom prst="roundRect">
            <a:avLst>
              <a:gd name="adj" fmla="val 25000"/>
            </a:avLst>
          </a:prstGeom>
          <a:solidFill>
            <a:srgbClr val="E3A087">
              <a:alpha val="10000"/>
            </a:srgbClr>
          </a:solidFill>
          <a:ln/>
        </p:spPr>
      </p:sp>
      <p:sp>
        <p:nvSpPr>
          <p:cNvPr id="22" name="Text 15"/>
          <p:cNvSpPr/>
          <p:nvPr/>
        </p:nvSpPr>
        <p:spPr>
          <a:xfrm>
            <a:off x="3280883" y="5144166"/>
            <a:ext cx="466118" cy="303006"/>
          </a:xfrm>
          <a:prstGeom prst="rect">
            <a:avLst/>
          </a:prstGeom>
          <a:noFill/>
          <a:ln/>
        </p:spPr>
        <p:txBody>
          <a:bodyPr wrap="square" lIns="0" tIns="0" rIns="0" bIns="0" rtlCol="0" anchor="t"/>
          <a:lstStyle/>
          <a:p>
            <a:pPr algn="ctr" indent="0" marL="0">
              <a:lnSpc>
                <a:spcPct val="200000"/>
              </a:lnSpc>
              <a:buNone/>
            </a:pPr>
            <a:r>
              <a:rPr lang="en-US" sz="1200" b="1" dirty="0">
                <a:solidFill>
                  <a:srgbClr val="E3A087"/>
                </a:solidFill>
                <a:latin typeface="Calibri" pitchFamily="34" charset="0"/>
                <a:ea typeface="Calibri" pitchFamily="34" charset="-122"/>
                <a:cs typeface="Calibri" pitchFamily="34" charset="-120"/>
              </a:rPr>
              <a:t>03
</a:t>
            </a:r>
            <a:endParaRPr lang="en-US" sz="1200" dirty="0"/>
          </a:p>
        </p:txBody>
      </p:sp>
      <p:pic>
        <p:nvPicPr>
          <p:cNvPr id="23" name="Image 5" descr="preencoded.png">    </p:cNvPr>
          <p:cNvPicPr>
            <a:picLocks noChangeAspect="1"/>
          </p:cNvPicPr>
          <p:nvPr/>
        </p:nvPicPr>
        <p:blipFill>
          <a:blip r:embed="rId6"/>
          <a:srcRect l="0" r="0" t="0" b="0"/>
          <a:stretch/>
        </p:blipFill>
        <p:spPr>
          <a:xfrm>
            <a:off x="914377" y="1549360"/>
            <a:ext cx="2133547" cy="1168373"/>
          </a:xfrm>
          <a:prstGeom prst="rect">
            <a:avLst/>
          </a:prstGeom>
        </p:spPr>
      </p:pic>
      <p:pic>
        <p:nvPicPr>
          <p:cNvPr id="24" name="Image 6" descr="preencoded.png">    </p:cNvPr>
          <p:cNvPicPr>
            <a:picLocks noChangeAspect="1"/>
          </p:cNvPicPr>
          <p:nvPr/>
        </p:nvPicPr>
        <p:blipFill>
          <a:blip r:embed="rId7"/>
          <a:srcRect l="0" r="0" t="0" b="0"/>
          <a:stretch/>
        </p:blipFill>
        <p:spPr>
          <a:xfrm>
            <a:off x="914377" y="3162221"/>
            <a:ext cx="2133547" cy="1168370"/>
          </a:xfrm>
          <a:prstGeom prst="rect">
            <a:avLst/>
          </a:prstGeom>
        </p:spPr>
      </p:pic>
      <p:pic>
        <p:nvPicPr>
          <p:cNvPr id="25" name="Image 7" descr="preencoded.png">    </p:cNvPr>
          <p:cNvPicPr>
            <a:picLocks noChangeAspect="1"/>
          </p:cNvPicPr>
          <p:nvPr/>
        </p:nvPicPr>
        <p:blipFill>
          <a:blip r:embed="rId8"/>
          <a:srcRect l="0" r="0" t="0" b="0"/>
          <a:stretch/>
        </p:blipFill>
        <p:spPr>
          <a:xfrm>
            <a:off x="914377" y="4775082"/>
            <a:ext cx="2133547" cy="1168370"/>
          </a:xfrm>
          <a:prstGeom prst="rect">
            <a:avLst/>
          </a:prstGeom>
        </p:spPr>
      </p:pic>
      <p:sp>
        <p:nvSpPr>
          <p:cNvPr id="26" name="Text 16"/>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89778" y="-1269968"/>
            <a:ext cx="3256197" cy="4444889"/>
          </a:xfrm>
          <a:prstGeom prst="rect">
            <a:avLst/>
          </a:prstGeom>
        </p:spPr>
      </p:pic>
      <p:sp>
        <p:nvSpPr>
          <p:cNvPr id="3" name="Shape 0"/>
          <p:cNvSpPr/>
          <p:nvPr/>
        </p:nvSpPr>
        <p:spPr>
          <a:xfrm>
            <a:off x="9575560" y="6553036"/>
            <a:ext cx="2539937" cy="228594"/>
          </a:xfrm>
          <a:prstGeom prst="rect">
            <a:avLst/>
          </a:prstGeom>
          <a:solidFill>
            <a:srgbClr val="000000">
              <a:alpha val="60000"/>
            </a:srgbClr>
          </a:solidFill>
          <a:ln/>
        </p:spPr>
      </p:sp>
      <p:pic>
        <p:nvPicPr>
          <p:cNvPr id="4" name="Image 1" descr="preencoded.png">    </p:cNvPr>
          <p:cNvPicPr>
            <a:picLocks noChangeAspect="1"/>
          </p:cNvPicPr>
          <p:nvPr/>
        </p:nvPicPr>
        <p:blipFill>
          <a:blip r:embed="rId2"/>
          <a:stretch>
            <a:fillRect/>
          </a:stretch>
        </p:blipFill>
        <p:spPr>
          <a:xfrm>
            <a:off x="10667733" y="5333867"/>
            <a:ext cx="1396965" cy="1396965"/>
          </a:xfrm>
          <a:prstGeom prst="rect">
            <a:avLst/>
          </a:prstGeom>
        </p:spPr>
      </p:pic>
      <p:pic>
        <p:nvPicPr>
          <p:cNvPr id="5" name="Image 2" descr="preencoded.png">    </p:cNvPr>
          <p:cNvPicPr>
            <a:picLocks noChangeAspect="1"/>
          </p:cNvPicPr>
          <p:nvPr/>
        </p:nvPicPr>
        <p:blipFill>
          <a:blip r:embed="rId3"/>
          <a:stretch>
            <a:fillRect/>
          </a:stretch>
        </p:blipFill>
        <p:spPr>
          <a:xfrm>
            <a:off x="0" y="1269968"/>
            <a:ext cx="63498" cy="4444889"/>
          </a:xfrm>
          <a:prstGeom prst="rect">
            <a:avLst/>
          </a:prstGeom>
        </p:spPr>
      </p:pic>
      <p:pic>
        <p:nvPicPr>
          <p:cNvPr id="6" name="Image 3" descr="preencoded.png">    </p:cNvPr>
          <p:cNvPicPr>
            <a:picLocks noChangeAspect="1"/>
          </p:cNvPicPr>
          <p:nvPr/>
        </p:nvPicPr>
        <p:blipFill>
          <a:blip r:embed="rId4"/>
          <a:stretch>
            <a:fillRect/>
          </a:stretch>
        </p:blipFill>
        <p:spPr>
          <a:xfrm>
            <a:off x="10413740" y="6286343"/>
            <a:ext cx="1269968" cy="431789"/>
          </a:xfrm>
          <a:prstGeom prst="rect">
            <a:avLst/>
          </a:prstGeom>
        </p:spPr>
      </p:pic>
      <p:pic>
        <p:nvPicPr>
          <p:cNvPr id="7" name="Image 4" descr="preencoded.png">    </p:cNvPr>
          <p:cNvPicPr>
            <a:picLocks noChangeAspect="1"/>
          </p:cNvPicPr>
          <p:nvPr/>
        </p:nvPicPr>
        <p:blipFill>
          <a:blip r:embed="rId5"/>
          <a:stretch>
            <a:fillRect/>
          </a:stretch>
        </p:blipFill>
        <p:spPr>
          <a:xfrm>
            <a:off x="0" y="0"/>
            <a:ext cx="12145975" cy="76198"/>
          </a:xfrm>
          <a:prstGeom prst="rect">
            <a:avLst/>
          </a:prstGeom>
        </p:spPr>
      </p:pic>
      <p:sp>
        <p:nvSpPr>
          <p:cNvPr id="8" name="Text 1"/>
          <p:cNvSpPr/>
          <p:nvPr/>
        </p:nvSpPr>
        <p:spPr>
          <a:xfrm>
            <a:off x="609585" y="2374842"/>
            <a:ext cx="353686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Contains 3900 rows and 18 columns
</a:t>
            </a:r>
            <a:endParaRPr lang="en-US" sz="1400" dirty="0"/>
          </a:p>
        </p:txBody>
      </p:sp>
      <p:sp>
        <p:nvSpPr>
          <p:cNvPr id="9" name="Text 2"/>
          <p:cNvSpPr/>
          <p:nvPr/>
        </p:nvSpPr>
        <p:spPr>
          <a:xfrm>
            <a:off x="609585" y="2679634"/>
            <a:ext cx="3536861"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Contains 3900 rows and 18 columns of transactional data.
</a:t>
            </a:r>
            <a:endParaRPr lang="en-US" sz="1300" dirty="0"/>
          </a:p>
        </p:txBody>
      </p:sp>
      <p:sp>
        <p:nvSpPr>
          <p:cNvPr id="10" name="Text 3"/>
          <p:cNvSpPr/>
          <p:nvPr/>
        </p:nvSpPr>
        <p:spPr>
          <a:xfrm>
            <a:off x="4781430" y="2374842"/>
            <a:ext cx="3536861" cy="507986"/>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Key features include customer demographics and
</a:t>
            </a:r>
            <a:endParaRPr lang="en-US" sz="1400" dirty="0"/>
          </a:p>
        </p:txBody>
      </p:sp>
      <p:sp>
        <p:nvSpPr>
          <p:cNvPr id="11" name="Text 4"/>
          <p:cNvSpPr/>
          <p:nvPr/>
        </p:nvSpPr>
        <p:spPr>
          <a:xfrm>
            <a:off x="4781430" y="2933627"/>
            <a:ext cx="3536861"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Key features include customer demographics and purchase details.
</a:t>
            </a:r>
            <a:endParaRPr lang="en-US" sz="1300" dirty="0"/>
          </a:p>
        </p:txBody>
      </p:sp>
      <p:sp>
        <p:nvSpPr>
          <p:cNvPr id="12" name="Text 5"/>
          <p:cNvSpPr/>
          <p:nvPr/>
        </p:nvSpPr>
        <p:spPr>
          <a:xfrm>
            <a:off x="609585" y="4287333"/>
            <a:ext cx="3536861" cy="253993"/>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Identified 37 missing values in the
</a:t>
            </a:r>
            <a:endParaRPr lang="en-US" sz="1400" dirty="0"/>
          </a:p>
        </p:txBody>
      </p:sp>
      <p:sp>
        <p:nvSpPr>
          <p:cNvPr id="13" name="Text 6"/>
          <p:cNvSpPr/>
          <p:nvPr/>
        </p:nvSpPr>
        <p:spPr>
          <a:xfrm>
            <a:off x="609585" y="4592126"/>
            <a:ext cx="3536861"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Identified 37 missing values in the review rating column.
</a:t>
            </a:r>
            <a:endParaRPr lang="en-US" sz="1300" dirty="0"/>
          </a:p>
        </p:txBody>
      </p:sp>
      <p:sp>
        <p:nvSpPr>
          <p:cNvPr id="14" name="Text 7"/>
          <p:cNvSpPr/>
          <p:nvPr/>
        </p:nvSpPr>
        <p:spPr>
          <a:xfrm>
            <a:off x="4781430" y="4287333"/>
            <a:ext cx="3536861" cy="507988"/>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Focuses on various shopping behavior metrics
</a:t>
            </a:r>
            <a:endParaRPr lang="en-US" sz="1400" dirty="0"/>
          </a:p>
        </p:txBody>
      </p:sp>
      <p:sp>
        <p:nvSpPr>
          <p:cNvPr id="15" name="Text 8"/>
          <p:cNvSpPr/>
          <p:nvPr/>
        </p:nvSpPr>
        <p:spPr>
          <a:xfrm>
            <a:off x="4781430" y="4846119"/>
            <a:ext cx="3536861"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Focuses on various shopping behavior metrics.
</a:t>
            </a:r>
            <a:endParaRPr lang="en-US" sz="1300" dirty="0"/>
          </a:p>
        </p:txBody>
      </p:sp>
      <p:sp>
        <p:nvSpPr>
          <p:cNvPr id="16" name="Text 9"/>
          <p:cNvSpPr/>
          <p:nvPr/>
        </p:nvSpPr>
        <p:spPr>
          <a:xfrm>
            <a:off x="9651758" y="6578437"/>
            <a:ext cx="2387541" cy="177792"/>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Georgia" pitchFamily="34" charset="0"/>
                <a:ea typeface="Georgia" pitchFamily="34" charset="-122"/>
                <a:cs typeface="Georgia" pitchFamily="34" charset="-120"/>
              </a:rPr>
              <a:t>Photo by Stephen Phillips - Hostreviews.co.uk
</a:t>
            </a:r>
            <a:endParaRPr lang="en-US" sz="900" dirty="0"/>
          </a:p>
        </p:txBody>
      </p:sp>
      <p:sp>
        <p:nvSpPr>
          <p:cNvPr id="17" name="Text 10"/>
          <p:cNvSpPr/>
          <p:nvPr/>
        </p:nvSpPr>
        <p:spPr>
          <a:xfrm>
            <a:off x="380990" y="1318385"/>
            <a:ext cx="8140496" cy="396072"/>
          </a:xfrm>
          <a:prstGeom prst="rect">
            <a:avLst/>
          </a:prstGeom>
          <a:noFill/>
          <a:ln/>
        </p:spPr>
        <p:txBody>
          <a:bodyPr wrap="square" lIns="1016" tIns="1016" rIns="1016" bIns="1016" rtlCol="0" anchor="t"/>
          <a:lstStyle/>
          <a:p>
            <a:pPr indent="0" marL="0">
              <a:lnSpc>
                <a:spcPct val="120000"/>
              </a:lnSpc>
              <a:buNone/>
            </a:pPr>
            <a:r>
              <a:rPr lang="en-US" sz="2300" b="1" dirty="0">
                <a:solidFill>
                  <a:srgbClr val="F9DAC1"/>
                </a:solidFill>
                <a:latin typeface="Georgia" pitchFamily="34" charset="0"/>
                <a:ea typeface="Georgia" pitchFamily="34" charset="-122"/>
                <a:cs typeface="Georgia" pitchFamily="34" charset="-120"/>
              </a:rPr>
              <a:t>Dataset Summary
</a:t>
            </a:r>
            <a:endParaRPr lang="en-US" sz="2300" dirty="0"/>
          </a:p>
        </p:txBody>
      </p:sp>
      <p:pic>
        <p:nvPicPr>
          <p:cNvPr id="18" name="Image 5"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6885" y="2057349"/>
            <a:ext cx="228594" cy="228594"/>
          </a:xfrm>
          <a:prstGeom prst="rect">
            <a:avLst/>
          </a:prstGeom>
        </p:spPr>
      </p:pic>
      <p:pic>
        <p:nvPicPr>
          <p:cNvPr id="19" name="Image 6"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68731" y="2057349"/>
            <a:ext cx="228594" cy="228594"/>
          </a:xfrm>
          <a:prstGeom prst="rect">
            <a:avLst/>
          </a:prstGeom>
        </p:spPr>
      </p:pic>
      <p:pic>
        <p:nvPicPr>
          <p:cNvPr id="20" name="Image 7"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96885" y="3969840"/>
            <a:ext cx="228594" cy="228594"/>
          </a:xfrm>
          <a:prstGeom prst="rect">
            <a:avLst/>
          </a:prstGeom>
        </p:spPr>
      </p:pic>
      <p:pic>
        <p:nvPicPr>
          <p:cNvPr id="21" name="Image 8"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68731" y="3969840"/>
            <a:ext cx="228594" cy="228594"/>
          </a:xfrm>
          <a:prstGeom prst="rect">
            <a:avLst/>
          </a:prstGeom>
        </p:spPr>
      </p:pic>
      <p:pic>
        <p:nvPicPr>
          <p:cNvPr id="22" name="Image 9" descr="preencoded.png">    </p:cNvPr>
          <p:cNvPicPr>
            <a:picLocks noChangeAspect="1"/>
          </p:cNvPicPr>
          <p:nvPr/>
        </p:nvPicPr>
        <p:blipFill>
          <a:blip r:embed="rId14"/>
          <a:srcRect l="0" r="0" t="0" b="0"/>
          <a:stretch/>
        </p:blipFill>
        <p:spPr>
          <a:xfrm>
            <a:off x="8775480" y="0"/>
            <a:ext cx="3370495" cy="6812280"/>
          </a:xfrm>
          <a:prstGeom prst="rect">
            <a:avLst/>
          </a:prstGeom>
        </p:spPr>
      </p:pic>
      <p:sp>
        <p:nvSpPr>
          <p:cNvPr id="23" name="Text 1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89778" y="-1269968"/>
            <a:ext cx="3256197" cy="4444889"/>
          </a:xfrm>
          <a:prstGeom prst="rect">
            <a:avLst/>
          </a:prstGeom>
        </p:spPr>
      </p:pic>
      <p:pic>
        <p:nvPicPr>
          <p:cNvPr id="3" name="Image 1" descr="preencoded.png">    </p:cNvPr>
          <p:cNvPicPr>
            <a:picLocks noChangeAspect="1"/>
          </p:cNvPicPr>
          <p:nvPr/>
        </p:nvPicPr>
        <p:blipFill>
          <a:blip r:embed="rId2"/>
          <a:stretch>
            <a:fillRect/>
          </a:stretch>
        </p:blipFill>
        <p:spPr>
          <a:xfrm>
            <a:off x="10667733" y="5333867"/>
            <a:ext cx="1396965" cy="1396965"/>
          </a:xfrm>
          <a:prstGeom prst="rect">
            <a:avLst/>
          </a:prstGeom>
        </p:spPr>
      </p:pic>
      <p:pic>
        <p:nvPicPr>
          <p:cNvPr id="4" name="Image 2" descr="preencoded.png">    </p:cNvPr>
          <p:cNvPicPr>
            <a:picLocks noChangeAspect="1"/>
          </p:cNvPicPr>
          <p:nvPr/>
        </p:nvPicPr>
        <p:blipFill>
          <a:blip r:embed="rId3"/>
          <a:stretch>
            <a:fillRect/>
          </a:stretch>
        </p:blipFill>
        <p:spPr>
          <a:xfrm>
            <a:off x="0" y="1269968"/>
            <a:ext cx="63498" cy="4444889"/>
          </a:xfrm>
          <a:prstGeom prst="rect">
            <a:avLst/>
          </a:prstGeom>
        </p:spPr>
      </p:pic>
      <p:pic>
        <p:nvPicPr>
          <p:cNvPr id="5" name="Image 3" descr="preencoded.png">    </p:cNvPr>
          <p:cNvPicPr>
            <a:picLocks noChangeAspect="1"/>
          </p:cNvPicPr>
          <p:nvPr/>
        </p:nvPicPr>
        <p:blipFill>
          <a:blip r:embed="rId4"/>
          <a:stretch>
            <a:fillRect/>
          </a:stretch>
        </p:blipFill>
        <p:spPr>
          <a:xfrm>
            <a:off x="10413740" y="6286343"/>
            <a:ext cx="1269968" cy="431789"/>
          </a:xfrm>
          <a:prstGeom prst="rect">
            <a:avLst/>
          </a:prstGeom>
        </p:spPr>
      </p:pic>
      <p:pic>
        <p:nvPicPr>
          <p:cNvPr id="6" name="Image 4" descr="preencoded.png">    </p:cNvPr>
          <p:cNvPicPr>
            <a:picLocks noChangeAspect="1"/>
          </p:cNvPicPr>
          <p:nvPr/>
        </p:nvPicPr>
        <p:blipFill>
          <a:blip r:embed="rId5"/>
          <a:stretch>
            <a:fillRect/>
          </a:stretch>
        </p:blipFill>
        <p:spPr>
          <a:xfrm>
            <a:off x="0" y="0"/>
            <a:ext cx="12145975" cy="76198"/>
          </a:xfrm>
          <a:prstGeom prst="rect">
            <a:avLst/>
          </a:prstGeom>
        </p:spPr>
      </p:pic>
      <p:sp>
        <p:nvSpPr>
          <p:cNvPr id="7" name="Text 0"/>
          <p:cNvSpPr/>
          <p:nvPr/>
        </p:nvSpPr>
        <p:spPr>
          <a:xfrm>
            <a:off x="761981" y="507987"/>
            <a:ext cx="10667733"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9DAC1"/>
                </a:solidFill>
                <a:latin typeface="Georgia" pitchFamily="34" charset="0"/>
                <a:ea typeface="Georgia" pitchFamily="34" charset="-122"/>
                <a:cs typeface="Georgia" pitchFamily="34" charset="-120"/>
              </a:rPr>
              <a:t>How to Prepare and Clean Data for Analysis
</a:t>
            </a:r>
            <a:endParaRPr lang="en-US" sz="2900" dirty="0"/>
          </a:p>
        </p:txBody>
      </p:sp>
      <p:sp>
        <p:nvSpPr>
          <p:cNvPr id="8" name="Text 1"/>
          <p:cNvSpPr/>
          <p:nvPr/>
        </p:nvSpPr>
        <p:spPr>
          <a:xfrm>
            <a:off x="1316600" y="1645206"/>
            <a:ext cx="10100414" cy="216688"/>
          </a:xfrm>
          <a:prstGeom prst="rect">
            <a:avLst/>
          </a:prstGeom>
          <a:noFill/>
          <a:ln/>
        </p:spPr>
        <p:txBody>
          <a:bodyPr wrap="square" lIns="1016" tIns="1016" rIns="1016" bIns="1016" rtlCol="0" anchor="t"/>
          <a:lstStyle/>
          <a:p>
            <a:pPr indent="0" marL="0">
              <a:lnSpc>
                <a:spcPct val="121978"/>
              </a:lnSpc>
              <a:buNone/>
            </a:pPr>
            <a:r>
              <a:rPr lang="en-US" sz="1300" b="1" dirty="0">
                <a:solidFill>
                  <a:srgbClr val="F9DAC1"/>
                </a:solidFill>
                <a:latin typeface="Georgia" pitchFamily="34" charset="0"/>
                <a:ea typeface="Georgia" pitchFamily="34" charset="-122"/>
                <a:cs typeface="Georgia" pitchFamily="34" charset="-120"/>
              </a:rPr>
              <a:t>Import Necessary Libraries
</a:t>
            </a:r>
            <a:endParaRPr lang="en-US" sz="1300" dirty="0"/>
          </a:p>
        </p:txBody>
      </p:sp>
      <p:sp>
        <p:nvSpPr>
          <p:cNvPr id="9" name="Text 2"/>
          <p:cNvSpPr/>
          <p:nvPr/>
        </p:nvSpPr>
        <p:spPr>
          <a:xfrm>
            <a:off x="1316600" y="1905149"/>
            <a:ext cx="10100414" cy="220063"/>
          </a:xfrm>
          <a:prstGeom prst="rect">
            <a:avLst/>
          </a:prstGeom>
          <a:noFill/>
          <a:ln/>
        </p:spPr>
        <p:txBody>
          <a:bodyPr wrap="square" lIns="1016" tIns="1016" rIns="1016" bIns="1016" rtlCol="0" anchor="t"/>
          <a:lstStyle/>
          <a:p>
            <a:pPr indent="0" marL="0">
              <a:lnSpc>
                <a:spcPct val="144443"/>
              </a:lnSpc>
              <a:buNone/>
            </a:pPr>
            <a:r>
              <a:rPr lang="en-US" sz="1100" dirty="0">
                <a:solidFill>
                  <a:srgbClr val="C8B6A6"/>
                </a:solidFill>
                <a:latin typeface="Georgia" pitchFamily="34" charset="0"/>
                <a:ea typeface="Georgia" pitchFamily="34" charset="-122"/>
                <a:cs typeface="Georgia" pitchFamily="34" charset="-120"/>
              </a:rPr>
              <a:t>Begin by importing essential Python libraries such as Numpy and Pandas to facilitate data manipulation and analysis.
</a:t>
            </a:r>
            <a:endParaRPr lang="en-US" sz="1100" dirty="0"/>
          </a:p>
        </p:txBody>
      </p:sp>
      <p:sp>
        <p:nvSpPr>
          <p:cNvPr id="10" name="Text 3"/>
          <p:cNvSpPr/>
          <p:nvPr/>
        </p:nvSpPr>
        <p:spPr>
          <a:xfrm>
            <a:off x="1316600" y="2345669"/>
            <a:ext cx="10100414" cy="216688"/>
          </a:xfrm>
          <a:prstGeom prst="rect">
            <a:avLst/>
          </a:prstGeom>
          <a:noFill/>
          <a:ln/>
        </p:spPr>
        <p:txBody>
          <a:bodyPr wrap="square" lIns="1016" tIns="1016" rIns="1016" bIns="1016" rtlCol="0" anchor="t"/>
          <a:lstStyle/>
          <a:p>
            <a:pPr indent="0" marL="0">
              <a:lnSpc>
                <a:spcPct val="121978"/>
              </a:lnSpc>
              <a:buNone/>
            </a:pPr>
            <a:r>
              <a:rPr lang="en-US" sz="1300" b="1" dirty="0">
                <a:solidFill>
                  <a:srgbClr val="F9DAC1"/>
                </a:solidFill>
                <a:latin typeface="Georgia" pitchFamily="34" charset="0"/>
                <a:ea typeface="Georgia" pitchFamily="34" charset="-122"/>
                <a:cs typeface="Georgia" pitchFamily="34" charset="-120"/>
              </a:rPr>
              <a:t>Load the Dataset
</a:t>
            </a:r>
            <a:endParaRPr lang="en-US" sz="1300" dirty="0"/>
          </a:p>
        </p:txBody>
      </p:sp>
      <p:sp>
        <p:nvSpPr>
          <p:cNvPr id="11" name="Text 4"/>
          <p:cNvSpPr/>
          <p:nvPr/>
        </p:nvSpPr>
        <p:spPr>
          <a:xfrm>
            <a:off x="1316600" y="2605618"/>
            <a:ext cx="10100414" cy="220063"/>
          </a:xfrm>
          <a:prstGeom prst="rect">
            <a:avLst/>
          </a:prstGeom>
          <a:noFill/>
          <a:ln/>
        </p:spPr>
        <p:txBody>
          <a:bodyPr wrap="square" lIns="1016" tIns="1016" rIns="1016" bIns="1016" rtlCol="0" anchor="t"/>
          <a:lstStyle/>
          <a:p>
            <a:pPr indent="0" marL="0">
              <a:lnSpc>
                <a:spcPct val="144443"/>
              </a:lnSpc>
              <a:buNone/>
            </a:pPr>
            <a:r>
              <a:rPr lang="en-US" sz="1100" dirty="0">
                <a:solidFill>
                  <a:srgbClr val="C8B6A6"/>
                </a:solidFill>
                <a:latin typeface="Georgia" pitchFamily="34" charset="0"/>
                <a:ea typeface="Georgia" pitchFamily="34" charset="-122"/>
                <a:cs typeface="Georgia" pitchFamily="34" charset="-120"/>
              </a:rPr>
              <a:t>Use Pandas to load the transactional data into a DataFrame for further exploration and analysis.
</a:t>
            </a:r>
            <a:endParaRPr lang="en-US" sz="1100" dirty="0"/>
          </a:p>
        </p:txBody>
      </p:sp>
      <p:sp>
        <p:nvSpPr>
          <p:cNvPr id="12" name="Text 5"/>
          <p:cNvSpPr/>
          <p:nvPr/>
        </p:nvSpPr>
        <p:spPr>
          <a:xfrm>
            <a:off x="1316600" y="3046138"/>
            <a:ext cx="10100414" cy="216688"/>
          </a:xfrm>
          <a:prstGeom prst="rect">
            <a:avLst/>
          </a:prstGeom>
          <a:noFill/>
          <a:ln/>
        </p:spPr>
        <p:txBody>
          <a:bodyPr wrap="square" lIns="1016" tIns="1016" rIns="1016" bIns="1016" rtlCol="0" anchor="t"/>
          <a:lstStyle/>
          <a:p>
            <a:pPr indent="0" marL="0">
              <a:lnSpc>
                <a:spcPct val="121978"/>
              </a:lnSpc>
              <a:buNone/>
            </a:pPr>
            <a:r>
              <a:rPr lang="en-US" sz="1300" b="1" dirty="0">
                <a:solidFill>
                  <a:srgbClr val="F9DAC1"/>
                </a:solidFill>
                <a:latin typeface="Georgia" pitchFamily="34" charset="0"/>
                <a:ea typeface="Georgia" pitchFamily="34" charset="-122"/>
                <a:cs typeface="Georgia" pitchFamily="34" charset="-120"/>
              </a:rPr>
              <a:t>Initial Data Checks
</a:t>
            </a:r>
            <a:endParaRPr lang="en-US" sz="1300" dirty="0"/>
          </a:p>
        </p:txBody>
      </p:sp>
      <p:sp>
        <p:nvSpPr>
          <p:cNvPr id="13" name="Text 6"/>
          <p:cNvSpPr/>
          <p:nvPr/>
        </p:nvSpPr>
        <p:spPr>
          <a:xfrm>
            <a:off x="1316600" y="3306086"/>
            <a:ext cx="10100414" cy="220058"/>
          </a:xfrm>
          <a:prstGeom prst="rect">
            <a:avLst/>
          </a:prstGeom>
          <a:noFill/>
          <a:ln/>
        </p:spPr>
        <p:txBody>
          <a:bodyPr wrap="square" lIns="1016" tIns="1016" rIns="1016" bIns="1016" rtlCol="0" anchor="t"/>
          <a:lstStyle/>
          <a:p>
            <a:pPr indent="0" marL="0">
              <a:lnSpc>
                <a:spcPct val="144443"/>
              </a:lnSpc>
              <a:buNone/>
            </a:pPr>
            <a:r>
              <a:rPr lang="en-US" sz="1100" dirty="0">
                <a:solidFill>
                  <a:srgbClr val="C8B6A6"/>
                </a:solidFill>
                <a:latin typeface="Georgia" pitchFamily="34" charset="0"/>
                <a:ea typeface="Georgia" pitchFamily="34" charset="-122"/>
                <a:cs typeface="Georgia" pitchFamily="34" charset="-120"/>
              </a:rPr>
              <a:t>Perform initial checks on the DataFrame using df.info() to understand the structure and df.describe() for summary statistics.
</a:t>
            </a:r>
            <a:endParaRPr lang="en-US" sz="1100" dirty="0"/>
          </a:p>
        </p:txBody>
      </p:sp>
      <p:sp>
        <p:nvSpPr>
          <p:cNvPr id="14" name="Text 7"/>
          <p:cNvSpPr/>
          <p:nvPr/>
        </p:nvSpPr>
        <p:spPr>
          <a:xfrm>
            <a:off x="1316600" y="3746607"/>
            <a:ext cx="10100414" cy="216688"/>
          </a:xfrm>
          <a:prstGeom prst="rect">
            <a:avLst/>
          </a:prstGeom>
          <a:noFill/>
          <a:ln/>
        </p:spPr>
        <p:txBody>
          <a:bodyPr wrap="square" lIns="1016" tIns="1016" rIns="1016" bIns="1016" rtlCol="0" anchor="t"/>
          <a:lstStyle/>
          <a:p>
            <a:pPr indent="0" marL="0">
              <a:lnSpc>
                <a:spcPct val="121978"/>
              </a:lnSpc>
              <a:buNone/>
            </a:pPr>
            <a:r>
              <a:rPr lang="en-US" sz="1300" b="1" dirty="0">
                <a:solidFill>
                  <a:srgbClr val="F9DAC1"/>
                </a:solidFill>
                <a:latin typeface="Georgia" pitchFamily="34" charset="0"/>
                <a:ea typeface="Georgia" pitchFamily="34" charset="-122"/>
                <a:cs typeface="Georgia" pitchFamily="34" charset="-120"/>
              </a:rPr>
              <a:t>Handle Missing Data
</a:t>
            </a:r>
            <a:endParaRPr lang="en-US" sz="1300" dirty="0"/>
          </a:p>
        </p:txBody>
      </p:sp>
      <p:sp>
        <p:nvSpPr>
          <p:cNvPr id="15" name="Text 8"/>
          <p:cNvSpPr/>
          <p:nvPr/>
        </p:nvSpPr>
        <p:spPr>
          <a:xfrm>
            <a:off x="1316600" y="4006550"/>
            <a:ext cx="10100414" cy="220063"/>
          </a:xfrm>
          <a:prstGeom prst="rect">
            <a:avLst/>
          </a:prstGeom>
          <a:noFill/>
          <a:ln/>
        </p:spPr>
        <p:txBody>
          <a:bodyPr wrap="square" lIns="1016" tIns="1016" rIns="1016" bIns="1016" rtlCol="0" anchor="t"/>
          <a:lstStyle/>
          <a:p>
            <a:pPr indent="0" marL="0">
              <a:lnSpc>
                <a:spcPct val="144443"/>
              </a:lnSpc>
              <a:buNone/>
            </a:pPr>
            <a:r>
              <a:rPr lang="en-US" sz="1100" dirty="0">
                <a:solidFill>
                  <a:srgbClr val="C8B6A6"/>
                </a:solidFill>
                <a:latin typeface="Georgia" pitchFamily="34" charset="0"/>
                <a:ea typeface="Georgia" pitchFamily="34" charset="-122"/>
                <a:cs typeface="Georgia" pitchFamily="34" charset="-120"/>
              </a:rPr>
              <a:t>Identify and handle missing values in the dataset, particularly in the Review Rating column, by applying appropriate imputation techniques.
</a:t>
            </a:r>
            <a:endParaRPr lang="en-US" sz="1100" dirty="0"/>
          </a:p>
        </p:txBody>
      </p:sp>
      <p:sp>
        <p:nvSpPr>
          <p:cNvPr id="16" name="Text 9"/>
          <p:cNvSpPr/>
          <p:nvPr/>
        </p:nvSpPr>
        <p:spPr>
          <a:xfrm>
            <a:off x="1316600" y="4447070"/>
            <a:ext cx="10100414" cy="216688"/>
          </a:xfrm>
          <a:prstGeom prst="rect">
            <a:avLst/>
          </a:prstGeom>
          <a:noFill/>
          <a:ln/>
        </p:spPr>
        <p:txBody>
          <a:bodyPr wrap="square" lIns="1016" tIns="1016" rIns="1016" bIns="1016" rtlCol="0" anchor="t"/>
          <a:lstStyle/>
          <a:p>
            <a:pPr indent="0" marL="0">
              <a:lnSpc>
                <a:spcPct val="121978"/>
              </a:lnSpc>
              <a:buNone/>
            </a:pPr>
            <a:r>
              <a:rPr lang="en-US" sz="1300" b="1" dirty="0">
                <a:solidFill>
                  <a:srgbClr val="F9DAC1"/>
                </a:solidFill>
                <a:latin typeface="Georgia" pitchFamily="34" charset="0"/>
                <a:ea typeface="Georgia" pitchFamily="34" charset="-122"/>
                <a:cs typeface="Georgia" pitchFamily="34" charset="-120"/>
              </a:rPr>
              <a:t>Standardize Column Names
</a:t>
            </a:r>
            <a:endParaRPr lang="en-US" sz="1300" dirty="0"/>
          </a:p>
        </p:txBody>
      </p:sp>
      <p:sp>
        <p:nvSpPr>
          <p:cNvPr id="17" name="Text 10"/>
          <p:cNvSpPr/>
          <p:nvPr/>
        </p:nvSpPr>
        <p:spPr>
          <a:xfrm>
            <a:off x="1316600" y="4707018"/>
            <a:ext cx="10100414" cy="220063"/>
          </a:xfrm>
          <a:prstGeom prst="rect">
            <a:avLst/>
          </a:prstGeom>
          <a:noFill/>
          <a:ln/>
        </p:spPr>
        <p:txBody>
          <a:bodyPr wrap="square" lIns="1016" tIns="1016" rIns="1016" bIns="1016" rtlCol="0" anchor="t"/>
          <a:lstStyle/>
          <a:p>
            <a:pPr indent="0" marL="0">
              <a:lnSpc>
                <a:spcPct val="144443"/>
              </a:lnSpc>
              <a:buNone/>
            </a:pPr>
            <a:r>
              <a:rPr lang="en-US" sz="1100" dirty="0">
                <a:solidFill>
                  <a:srgbClr val="C8B6A6"/>
                </a:solidFill>
                <a:latin typeface="Georgia" pitchFamily="34" charset="0"/>
                <a:ea typeface="Georgia" pitchFamily="34" charset="-122"/>
                <a:cs typeface="Georgia" pitchFamily="34" charset="-120"/>
              </a:rPr>
              <a:t>Rename columns to a consistent snake_case format to enhance readability and maintainability of the dataset.
</a:t>
            </a:r>
            <a:endParaRPr lang="en-US" sz="1100" dirty="0"/>
          </a:p>
        </p:txBody>
      </p:sp>
      <p:sp>
        <p:nvSpPr>
          <p:cNvPr id="18" name="Text 11"/>
          <p:cNvSpPr/>
          <p:nvPr/>
        </p:nvSpPr>
        <p:spPr>
          <a:xfrm>
            <a:off x="1316600" y="5147538"/>
            <a:ext cx="10100414" cy="216688"/>
          </a:xfrm>
          <a:prstGeom prst="rect">
            <a:avLst/>
          </a:prstGeom>
          <a:noFill/>
          <a:ln/>
        </p:spPr>
        <p:txBody>
          <a:bodyPr wrap="square" lIns="1016" tIns="1016" rIns="1016" bIns="1016" rtlCol="0" anchor="t"/>
          <a:lstStyle/>
          <a:p>
            <a:pPr indent="0" marL="0">
              <a:lnSpc>
                <a:spcPct val="121978"/>
              </a:lnSpc>
              <a:buNone/>
            </a:pPr>
            <a:r>
              <a:rPr lang="en-US" sz="1300" b="1" dirty="0">
                <a:solidFill>
                  <a:srgbClr val="F9DAC1"/>
                </a:solidFill>
                <a:latin typeface="Georgia" pitchFamily="34" charset="0"/>
                <a:ea typeface="Georgia" pitchFamily="34" charset="-122"/>
                <a:cs typeface="Georgia" pitchFamily="34" charset="-120"/>
              </a:rPr>
              <a:t>Create New Features
</a:t>
            </a:r>
            <a:endParaRPr lang="en-US" sz="1300" dirty="0"/>
          </a:p>
        </p:txBody>
      </p:sp>
      <p:sp>
        <p:nvSpPr>
          <p:cNvPr id="19" name="Text 12"/>
          <p:cNvSpPr/>
          <p:nvPr/>
        </p:nvSpPr>
        <p:spPr>
          <a:xfrm>
            <a:off x="1316600" y="5407487"/>
            <a:ext cx="10100414" cy="440122"/>
          </a:xfrm>
          <a:prstGeom prst="rect">
            <a:avLst/>
          </a:prstGeom>
          <a:noFill/>
          <a:ln/>
        </p:spPr>
        <p:txBody>
          <a:bodyPr wrap="square" lIns="1016" tIns="1016" rIns="1016" bIns="1016" rtlCol="0" anchor="t"/>
          <a:lstStyle/>
          <a:p>
            <a:pPr indent="0" marL="0">
              <a:lnSpc>
                <a:spcPct val="144443"/>
              </a:lnSpc>
              <a:buNone/>
            </a:pPr>
            <a:r>
              <a:rPr lang="en-US" sz="1100" dirty="0">
                <a:solidFill>
                  <a:srgbClr val="C8B6A6"/>
                </a:solidFill>
                <a:latin typeface="Georgia" pitchFamily="34" charset="0"/>
                <a:ea typeface="Georgia" pitchFamily="34" charset="-122"/>
                <a:cs typeface="Georgia" pitchFamily="34" charset="-120"/>
              </a:rPr>
              <a:t>Generate new features such as 'age_group' by binning customer ages and 'purchase_frequency_days' based on purchase history to enrich the dataset.
</a:t>
            </a:r>
            <a:endParaRPr lang="en-US" sz="1100" dirty="0"/>
          </a:p>
        </p:txBody>
      </p:sp>
      <p:sp>
        <p:nvSpPr>
          <p:cNvPr id="20" name="Shape 13"/>
          <p:cNvSpPr/>
          <p:nvPr/>
        </p:nvSpPr>
        <p:spPr>
          <a:xfrm>
            <a:off x="761981" y="1632503"/>
            <a:ext cx="368489" cy="368489"/>
          </a:xfrm>
          <a:prstGeom prst="ellipse">
            <a:avLst/>
          </a:prstGeom>
          <a:solidFill>
            <a:srgbClr val="E3A087"/>
          </a:solidFill>
          <a:ln/>
        </p:spPr>
      </p:sp>
      <p:sp>
        <p:nvSpPr>
          <p:cNvPr id="21" name="Text 14"/>
          <p:cNvSpPr/>
          <p:nvPr/>
        </p:nvSpPr>
        <p:spPr>
          <a:xfrm>
            <a:off x="761981" y="1632503"/>
            <a:ext cx="368489" cy="368489"/>
          </a:xfrm>
          <a:prstGeom prst="rect">
            <a:avLst/>
          </a:prstGeom>
          <a:noFill/>
          <a:ln/>
        </p:spPr>
        <p:txBody>
          <a:bodyPr wrap="square" lIns="0" tIns="0" rIns="0" bIns="0" rtlCol="0" anchor="t"/>
          <a:lstStyle/>
          <a:p>
            <a:pPr algn="ctr" indent="0" marL="0">
              <a:lnSpc>
                <a:spcPct val="226667"/>
              </a:lnSpc>
              <a:buNone/>
            </a:pPr>
            <a:r>
              <a:rPr lang="en-US" sz="1400" b="1" dirty="0">
                <a:solidFill>
                  <a:srgbClr val="FFFFFF"/>
                </a:solidFill>
                <a:latin typeface="Calibri" pitchFamily="34" charset="0"/>
                <a:ea typeface="Calibri" pitchFamily="34" charset="-122"/>
                <a:cs typeface="Calibri" pitchFamily="34" charset="-120"/>
              </a:rPr>
              <a:t>1
</a:t>
            </a:r>
            <a:endParaRPr lang="en-US" sz="1400" dirty="0"/>
          </a:p>
        </p:txBody>
      </p:sp>
      <p:sp>
        <p:nvSpPr>
          <p:cNvPr id="22" name="Shape 15"/>
          <p:cNvSpPr/>
          <p:nvPr/>
        </p:nvSpPr>
        <p:spPr>
          <a:xfrm>
            <a:off x="761981" y="2332971"/>
            <a:ext cx="368489" cy="368489"/>
          </a:xfrm>
          <a:prstGeom prst="ellipse">
            <a:avLst/>
          </a:prstGeom>
          <a:solidFill>
            <a:srgbClr val="E3A087"/>
          </a:solidFill>
          <a:ln/>
        </p:spPr>
      </p:sp>
      <p:sp>
        <p:nvSpPr>
          <p:cNvPr id="23" name="Text 16"/>
          <p:cNvSpPr/>
          <p:nvPr/>
        </p:nvSpPr>
        <p:spPr>
          <a:xfrm>
            <a:off x="761981" y="2332971"/>
            <a:ext cx="368489" cy="368489"/>
          </a:xfrm>
          <a:prstGeom prst="rect">
            <a:avLst/>
          </a:prstGeom>
          <a:noFill/>
          <a:ln/>
        </p:spPr>
        <p:txBody>
          <a:bodyPr wrap="square" lIns="0" tIns="0" rIns="0" bIns="0" rtlCol="0" anchor="t"/>
          <a:lstStyle/>
          <a:p>
            <a:pPr algn="ctr" indent="0" marL="0">
              <a:lnSpc>
                <a:spcPct val="226667"/>
              </a:lnSpc>
              <a:buNone/>
            </a:pPr>
            <a:r>
              <a:rPr lang="en-US" sz="1400" b="1" dirty="0">
                <a:solidFill>
                  <a:srgbClr val="FFFFFF"/>
                </a:solidFill>
                <a:latin typeface="Calibri" pitchFamily="34" charset="0"/>
                <a:ea typeface="Calibri" pitchFamily="34" charset="-122"/>
                <a:cs typeface="Calibri" pitchFamily="34" charset="-120"/>
              </a:rPr>
              <a:t>2
</a:t>
            </a:r>
            <a:endParaRPr lang="en-US" sz="1400" dirty="0"/>
          </a:p>
        </p:txBody>
      </p:sp>
      <p:sp>
        <p:nvSpPr>
          <p:cNvPr id="24" name="Shape 17"/>
          <p:cNvSpPr/>
          <p:nvPr/>
        </p:nvSpPr>
        <p:spPr>
          <a:xfrm>
            <a:off x="761981" y="3033440"/>
            <a:ext cx="368489" cy="368489"/>
          </a:xfrm>
          <a:prstGeom prst="ellipse">
            <a:avLst/>
          </a:prstGeom>
          <a:solidFill>
            <a:srgbClr val="E3A087"/>
          </a:solidFill>
          <a:ln/>
        </p:spPr>
      </p:sp>
      <p:sp>
        <p:nvSpPr>
          <p:cNvPr id="25" name="Text 18"/>
          <p:cNvSpPr/>
          <p:nvPr/>
        </p:nvSpPr>
        <p:spPr>
          <a:xfrm>
            <a:off x="761981" y="3033440"/>
            <a:ext cx="368489" cy="368489"/>
          </a:xfrm>
          <a:prstGeom prst="rect">
            <a:avLst/>
          </a:prstGeom>
          <a:noFill/>
          <a:ln/>
        </p:spPr>
        <p:txBody>
          <a:bodyPr wrap="square" lIns="0" tIns="0" rIns="0" bIns="0" rtlCol="0" anchor="t"/>
          <a:lstStyle/>
          <a:p>
            <a:pPr algn="ctr" indent="0" marL="0">
              <a:lnSpc>
                <a:spcPct val="226667"/>
              </a:lnSpc>
              <a:buNone/>
            </a:pPr>
            <a:r>
              <a:rPr lang="en-US" sz="1400" b="1" dirty="0">
                <a:solidFill>
                  <a:srgbClr val="FFFFFF"/>
                </a:solidFill>
                <a:latin typeface="Calibri" pitchFamily="34" charset="0"/>
                <a:ea typeface="Calibri" pitchFamily="34" charset="-122"/>
                <a:cs typeface="Calibri" pitchFamily="34" charset="-120"/>
              </a:rPr>
              <a:t>3
</a:t>
            </a:r>
            <a:endParaRPr lang="en-US" sz="1400" dirty="0"/>
          </a:p>
        </p:txBody>
      </p:sp>
      <p:sp>
        <p:nvSpPr>
          <p:cNvPr id="26" name="Shape 19"/>
          <p:cNvSpPr/>
          <p:nvPr/>
        </p:nvSpPr>
        <p:spPr>
          <a:xfrm>
            <a:off x="761981" y="3733903"/>
            <a:ext cx="368489" cy="368489"/>
          </a:xfrm>
          <a:prstGeom prst="ellipse">
            <a:avLst/>
          </a:prstGeom>
          <a:solidFill>
            <a:srgbClr val="E3A087"/>
          </a:solidFill>
          <a:ln/>
        </p:spPr>
      </p:sp>
      <p:sp>
        <p:nvSpPr>
          <p:cNvPr id="27" name="Text 20"/>
          <p:cNvSpPr/>
          <p:nvPr/>
        </p:nvSpPr>
        <p:spPr>
          <a:xfrm>
            <a:off x="761981" y="3733903"/>
            <a:ext cx="368489" cy="368489"/>
          </a:xfrm>
          <a:prstGeom prst="rect">
            <a:avLst/>
          </a:prstGeom>
          <a:noFill/>
          <a:ln/>
        </p:spPr>
        <p:txBody>
          <a:bodyPr wrap="square" lIns="0" tIns="0" rIns="0" bIns="0" rtlCol="0" anchor="t"/>
          <a:lstStyle/>
          <a:p>
            <a:pPr algn="ctr" indent="0" marL="0">
              <a:lnSpc>
                <a:spcPct val="226667"/>
              </a:lnSpc>
              <a:buNone/>
            </a:pPr>
            <a:r>
              <a:rPr lang="en-US" sz="1400" b="1" dirty="0">
                <a:solidFill>
                  <a:srgbClr val="FFFFFF"/>
                </a:solidFill>
                <a:latin typeface="Calibri" pitchFamily="34" charset="0"/>
                <a:ea typeface="Calibri" pitchFamily="34" charset="-122"/>
                <a:cs typeface="Calibri" pitchFamily="34" charset="-120"/>
              </a:rPr>
              <a:t>4
</a:t>
            </a:r>
            <a:endParaRPr lang="en-US" sz="1400" dirty="0"/>
          </a:p>
        </p:txBody>
      </p:sp>
      <p:sp>
        <p:nvSpPr>
          <p:cNvPr id="28" name="Shape 21"/>
          <p:cNvSpPr/>
          <p:nvPr/>
        </p:nvSpPr>
        <p:spPr>
          <a:xfrm>
            <a:off x="761981" y="4434372"/>
            <a:ext cx="368489" cy="368489"/>
          </a:xfrm>
          <a:prstGeom prst="ellipse">
            <a:avLst/>
          </a:prstGeom>
          <a:solidFill>
            <a:srgbClr val="E3A087"/>
          </a:solidFill>
          <a:ln/>
        </p:spPr>
      </p:sp>
      <p:sp>
        <p:nvSpPr>
          <p:cNvPr id="29" name="Text 22"/>
          <p:cNvSpPr/>
          <p:nvPr/>
        </p:nvSpPr>
        <p:spPr>
          <a:xfrm>
            <a:off x="761981" y="4434372"/>
            <a:ext cx="368489" cy="368489"/>
          </a:xfrm>
          <a:prstGeom prst="rect">
            <a:avLst/>
          </a:prstGeom>
          <a:noFill/>
          <a:ln/>
        </p:spPr>
        <p:txBody>
          <a:bodyPr wrap="square" lIns="0" tIns="0" rIns="0" bIns="0" rtlCol="0" anchor="t"/>
          <a:lstStyle/>
          <a:p>
            <a:pPr algn="ctr" indent="0" marL="0">
              <a:lnSpc>
                <a:spcPct val="226667"/>
              </a:lnSpc>
              <a:buNone/>
            </a:pPr>
            <a:r>
              <a:rPr lang="en-US" sz="1400" b="1" dirty="0">
                <a:solidFill>
                  <a:srgbClr val="FFFFFF"/>
                </a:solidFill>
                <a:latin typeface="Calibri" pitchFamily="34" charset="0"/>
                <a:ea typeface="Calibri" pitchFamily="34" charset="-122"/>
                <a:cs typeface="Calibri" pitchFamily="34" charset="-120"/>
              </a:rPr>
              <a:t>5
</a:t>
            </a:r>
            <a:endParaRPr lang="en-US" sz="1400" dirty="0"/>
          </a:p>
        </p:txBody>
      </p:sp>
      <p:sp>
        <p:nvSpPr>
          <p:cNvPr id="30" name="Shape 23"/>
          <p:cNvSpPr/>
          <p:nvPr/>
        </p:nvSpPr>
        <p:spPr>
          <a:xfrm>
            <a:off x="761981" y="5134841"/>
            <a:ext cx="368489" cy="368489"/>
          </a:xfrm>
          <a:prstGeom prst="ellipse">
            <a:avLst/>
          </a:prstGeom>
          <a:solidFill>
            <a:srgbClr val="E3A087"/>
          </a:solidFill>
          <a:ln/>
        </p:spPr>
      </p:sp>
      <p:sp>
        <p:nvSpPr>
          <p:cNvPr id="31" name="Text 24"/>
          <p:cNvSpPr/>
          <p:nvPr/>
        </p:nvSpPr>
        <p:spPr>
          <a:xfrm>
            <a:off x="761981" y="5134841"/>
            <a:ext cx="368489" cy="368489"/>
          </a:xfrm>
          <a:prstGeom prst="rect">
            <a:avLst/>
          </a:prstGeom>
          <a:noFill/>
          <a:ln/>
        </p:spPr>
        <p:txBody>
          <a:bodyPr wrap="square" lIns="0" tIns="0" rIns="0" bIns="0" rtlCol="0" anchor="t"/>
          <a:lstStyle/>
          <a:p>
            <a:pPr algn="ctr" indent="0" marL="0">
              <a:lnSpc>
                <a:spcPct val="226667"/>
              </a:lnSpc>
              <a:buNone/>
            </a:pPr>
            <a:r>
              <a:rPr lang="en-US" sz="1400" b="1" dirty="0">
                <a:solidFill>
                  <a:srgbClr val="FFFFFF"/>
                </a:solidFill>
                <a:latin typeface="Calibri" pitchFamily="34" charset="0"/>
                <a:ea typeface="Calibri" pitchFamily="34" charset="-122"/>
                <a:cs typeface="Calibri" pitchFamily="34" charset="-120"/>
              </a:rPr>
              <a:t>6
</a:t>
            </a:r>
            <a:endParaRPr lang="en-US" sz="1400" dirty="0"/>
          </a:p>
        </p:txBody>
      </p:sp>
      <p:sp>
        <p:nvSpPr>
          <p:cNvPr id="32" name="Text 25"/>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89778" y="-1269968"/>
            <a:ext cx="3256197" cy="4444889"/>
          </a:xfrm>
          <a:prstGeom prst="rect">
            <a:avLst/>
          </a:prstGeom>
        </p:spPr>
      </p:pic>
      <p:sp>
        <p:nvSpPr>
          <p:cNvPr id="3" name="Shape 0"/>
          <p:cNvSpPr/>
          <p:nvPr/>
        </p:nvSpPr>
        <p:spPr>
          <a:xfrm>
            <a:off x="4394090" y="1931741"/>
            <a:ext cx="7035625" cy="1125112"/>
          </a:xfrm>
          <a:prstGeom prst="roundRect">
            <a:avLst>
              <a:gd name="adj" fmla="val 20317"/>
            </a:avLst>
          </a:prstGeom>
          <a:solidFill>
            <a:srgbClr val="000000">
              <a:alpha val="0"/>
            </a:srgbClr>
          </a:solidFill>
          <a:ln w="12700">
            <a:solidFill>
              <a:srgbClr val="E3A087"/>
            </a:solidFill>
            <a:prstDash val="solid"/>
          </a:ln>
        </p:spPr>
      </p:sp>
      <p:sp>
        <p:nvSpPr>
          <p:cNvPr id="4" name="Shape 1"/>
          <p:cNvSpPr/>
          <p:nvPr/>
        </p:nvSpPr>
        <p:spPr>
          <a:xfrm>
            <a:off x="4724282" y="3183848"/>
            <a:ext cx="6705432" cy="1125112"/>
          </a:xfrm>
          <a:prstGeom prst="roundRect">
            <a:avLst>
              <a:gd name="adj" fmla="val 20317"/>
            </a:avLst>
          </a:prstGeom>
          <a:solidFill>
            <a:srgbClr val="000000">
              <a:alpha val="0"/>
            </a:srgbClr>
          </a:solidFill>
          <a:ln w="12700">
            <a:solidFill>
              <a:srgbClr val="F9DAC1">
                <a:alpha val="18000"/>
              </a:srgbClr>
            </a:solidFill>
            <a:prstDash val="solid"/>
          </a:ln>
        </p:spPr>
      </p:sp>
      <p:sp>
        <p:nvSpPr>
          <p:cNvPr id="5" name="Shape 2"/>
          <p:cNvSpPr/>
          <p:nvPr/>
        </p:nvSpPr>
        <p:spPr>
          <a:xfrm>
            <a:off x="5054473" y="4435961"/>
            <a:ext cx="6375241" cy="1125112"/>
          </a:xfrm>
          <a:prstGeom prst="roundRect">
            <a:avLst>
              <a:gd name="adj" fmla="val 20317"/>
            </a:avLst>
          </a:prstGeom>
          <a:solidFill>
            <a:srgbClr val="000000">
              <a:alpha val="0"/>
            </a:srgbClr>
          </a:solidFill>
          <a:ln w="12700">
            <a:solidFill>
              <a:srgbClr val="F9DAC1">
                <a:alpha val="18000"/>
              </a:srgbClr>
            </a:solidFill>
            <a:prstDash val="solid"/>
          </a:ln>
        </p:spPr>
      </p:sp>
      <p:pic>
        <p:nvPicPr>
          <p:cNvPr id="6" name="Image 1" descr="preencoded.png">    </p:cNvPr>
          <p:cNvPicPr>
            <a:picLocks noChangeAspect="1"/>
          </p:cNvPicPr>
          <p:nvPr/>
        </p:nvPicPr>
        <p:blipFill>
          <a:blip r:embed="rId2"/>
          <a:stretch>
            <a:fillRect/>
          </a:stretch>
        </p:blipFill>
        <p:spPr>
          <a:xfrm>
            <a:off x="10667733" y="5333867"/>
            <a:ext cx="1396965" cy="1396965"/>
          </a:xfrm>
          <a:prstGeom prst="rect">
            <a:avLst/>
          </a:prstGeom>
        </p:spPr>
      </p:pic>
      <p:pic>
        <p:nvPicPr>
          <p:cNvPr id="7" name="Image 2" descr="preencoded.png">    </p:cNvPr>
          <p:cNvPicPr>
            <a:picLocks noChangeAspect="1"/>
          </p:cNvPicPr>
          <p:nvPr/>
        </p:nvPicPr>
        <p:blipFill>
          <a:blip r:embed="rId3"/>
          <a:stretch>
            <a:fillRect/>
          </a:stretch>
        </p:blipFill>
        <p:spPr>
          <a:xfrm>
            <a:off x="0" y="1269968"/>
            <a:ext cx="63498" cy="4444889"/>
          </a:xfrm>
          <a:prstGeom prst="rect">
            <a:avLst/>
          </a:prstGeom>
        </p:spPr>
      </p:pic>
      <p:pic>
        <p:nvPicPr>
          <p:cNvPr id="8" name="Image 3" descr="preencoded.png">    </p:cNvPr>
          <p:cNvPicPr>
            <a:picLocks noChangeAspect="1"/>
          </p:cNvPicPr>
          <p:nvPr/>
        </p:nvPicPr>
        <p:blipFill>
          <a:blip r:embed="rId4"/>
          <a:stretch>
            <a:fillRect/>
          </a:stretch>
        </p:blipFill>
        <p:spPr>
          <a:xfrm>
            <a:off x="10413740" y="6286343"/>
            <a:ext cx="1269968" cy="431789"/>
          </a:xfrm>
          <a:prstGeom prst="rect">
            <a:avLst/>
          </a:prstGeom>
        </p:spPr>
      </p:pic>
      <p:pic>
        <p:nvPicPr>
          <p:cNvPr id="9" name="Image 4" descr="preencoded.png">    </p:cNvPr>
          <p:cNvPicPr>
            <a:picLocks noChangeAspect="1"/>
          </p:cNvPicPr>
          <p:nvPr/>
        </p:nvPicPr>
        <p:blipFill>
          <a:blip r:embed="rId5"/>
          <a:stretch>
            <a:fillRect/>
          </a:stretch>
        </p:blipFill>
        <p:spPr>
          <a:xfrm>
            <a:off x="0" y="0"/>
            <a:ext cx="12145975" cy="76198"/>
          </a:xfrm>
          <a:prstGeom prst="rect">
            <a:avLst/>
          </a:prstGeom>
        </p:spPr>
      </p:pic>
      <p:sp>
        <p:nvSpPr>
          <p:cNvPr id="10" name="Text 3"/>
          <p:cNvSpPr/>
          <p:nvPr/>
        </p:nvSpPr>
        <p:spPr>
          <a:xfrm>
            <a:off x="761981" y="507987"/>
            <a:ext cx="10667733"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9DAC1"/>
                </a:solidFill>
                <a:latin typeface="Georgia" pitchFamily="34" charset="0"/>
                <a:ea typeface="Georgia" pitchFamily="34" charset="-122"/>
                <a:cs typeface="Georgia" pitchFamily="34" charset="-120"/>
              </a:rPr>
              <a:t>Data Analysis Using SQL
</a:t>
            </a:r>
            <a:endParaRPr lang="en-US" sz="2900" dirty="0"/>
          </a:p>
        </p:txBody>
      </p:sp>
      <p:sp>
        <p:nvSpPr>
          <p:cNvPr id="11" name="Text 4"/>
          <p:cNvSpPr/>
          <p:nvPr/>
        </p:nvSpPr>
        <p:spPr>
          <a:xfrm>
            <a:off x="5257669" y="2084137"/>
            <a:ext cx="5918052" cy="253995"/>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Revenue by Gender Analysis
</a:t>
            </a:r>
            <a:endParaRPr lang="en-US" sz="1400" dirty="0"/>
          </a:p>
        </p:txBody>
      </p:sp>
      <p:sp>
        <p:nvSpPr>
          <p:cNvPr id="12" name="Text 5"/>
          <p:cNvSpPr/>
          <p:nvPr/>
        </p:nvSpPr>
        <p:spPr>
          <a:xfrm>
            <a:off x="5257669" y="2388929"/>
            <a:ext cx="5918052"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Total revenue was compared between male and female customers using SQL queries.
</a:t>
            </a:r>
            <a:endParaRPr lang="en-US" sz="1300" dirty="0"/>
          </a:p>
        </p:txBody>
      </p:sp>
      <p:sp>
        <p:nvSpPr>
          <p:cNvPr id="13" name="Text 6"/>
          <p:cNvSpPr/>
          <p:nvPr/>
        </p:nvSpPr>
        <p:spPr>
          <a:xfrm>
            <a:off x="5587860" y="3336245"/>
            <a:ext cx="5587860" cy="253995"/>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High Spending Discount Users
</a:t>
            </a:r>
            <a:endParaRPr lang="en-US" sz="1400" dirty="0"/>
          </a:p>
        </p:txBody>
      </p:sp>
      <p:sp>
        <p:nvSpPr>
          <p:cNvPr id="14" name="Text 7"/>
          <p:cNvSpPr/>
          <p:nvPr/>
        </p:nvSpPr>
        <p:spPr>
          <a:xfrm>
            <a:off x="5587860" y="3641037"/>
            <a:ext cx="5587860"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Identified customers who spent above average despite using discounts.
</a:t>
            </a:r>
            <a:endParaRPr lang="en-US" sz="1300" dirty="0"/>
          </a:p>
        </p:txBody>
      </p:sp>
      <p:sp>
        <p:nvSpPr>
          <p:cNvPr id="15" name="Text 8"/>
          <p:cNvSpPr/>
          <p:nvPr/>
        </p:nvSpPr>
        <p:spPr>
          <a:xfrm>
            <a:off x="5918052" y="4588357"/>
            <a:ext cx="5257669"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Customer Segmentation
</a:t>
            </a:r>
            <a:endParaRPr lang="en-US" sz="1400" dirty="0"/>
          </a:p>
        </p:txBody>
      </p:sp>
      <p:sp>
        <p:nvSpPr>
          <p:cNvPr id="16" name="Text 9"/>
          <p:cNvSpPr/>
          <p:nvPr/>
        </p:nvSpPr>
        <p:spPr>
          <a:xfrm>
            <a:off x="5918052" y="4893150"/>
            <a:ext cx="5257669"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Classified customers into new, returning, and loyal based on purchase history.
</a:t>
            </a:r>
            <a:endParaRPr lang="en-US" sz="1300" dirty="0"/>
          </a:p>
        </p:txBody>
      </p:sp>
      <p:sp>
        <p:nvSpPr>
          <p:cNvPr id="17" name="Shape 10"/>
          <p:cNvSpPr/>
          <p:nvPr/>
        </p:nvSpPr>
        <p:spPr>
          <a:xfrm>
            <a:off x="4584585" y="2265703"/>
            <a:ext cx="507988" cy="330194"/>
          </a:xfrm>
          <a:prstGeom prst="roundRect">
            <a:avLst>
              <a:gd name="adj" fmla="val 25000"/>
            </a:avLst>
          </a:prstGeom>
          <a:solidFill>
            <a:srgbClr val="E3A087">
              <a:alpha val="10000"/>
            </a:srgbClr>
          </a:solidFill>
          <a:ln/>
        </p:spPr>
      </p:sp>
      <p:sp>
        <p:nvSpPr>
          <p:cNvPr id="18" name="Text 11"/>
          <p:cNvSpPr/>
          <p:nvPr/>
        </p:nvSpPr>
        <p:spPr>
          <a:xfrm>
            <a:off x="4584585" y="2265703"/>
            <a:ext cx="507988" cy="330194"/>
          </a:xfrm>
          <a:prstGeom prst="rect">
            <a:avLst/>
          </a:prstGeom>
          <a:noFill/>
          <a:ln/>
        </p:spPr>
        <p:txBody>
          <a:bodyPr wrap="square" lIns="0" tIns="0" rIns="0" bIns="0" rtlCol="0" anchor="t"/>
          <a:lstStyle/>
          <a:p>
            <a:pPr algn="ctr" indent="0" marL="0">
              <a:lnSpc>
                <a:spcPct val="185714"/>
              </a:lnSpc>
              <a:buNone/>
            </a:pPr>
            <a:r>
              <a:rPr lang="en-US" sz="1300" b="1" dirty="0">
                <a:solidFill>
                  <a:srgbClr val="E3A087"/>
                </a:solidFill>
                <a:latin typeface="Calibri" pitchFamily="34" charset="0"/>
                <a:ea typeface="Calibri" pitchFamily="34" charset="-122"/>
                <a:cs typeface="Calibri" pitchFamily="34" charset="-120"/>
              </a:rPr>
              <a:t>01
</a:t>
            </a:r>
            <a:endParaRPr lang="en-US" sz="1300" dirty="0"/>
          </a:p>
        </p:txBody>
      </p:sp>
      <p:sp>
        <p:nvSpPr>
          <p:cNvPr id="19" name="Shape 12"/>
          <p:cNvSpPr/>
          <p:nvPr/>
        </p:nvSpPr>
        <p:spPr>
          <a:xfrm>
            <a:off x="4914777" y="3517810"/>
            <a:ext cx="507987" cy="330194"/>
          </a:xfrm>
          <a:prstGeom prst="roundRect">
            <a:avLst>
              <a:gd name="adj" fmla="val 25000"/>
            </a:avLst>
          </a:prstGeom>
          <a:solidFill>
            <a:srgbClr val="E3A087">
              <a:alpha val="10000"/>
            </a:srgbClr>
          </a:solidFill>
          <a:ln/>
        </p:spPr>
      </p:sp>
      <p:sp>
        <p:nvSpPr>
          <p:cNvPr id="20" name="Text 13"/>
          <p:cNvSpPr/>
          <p:nvPr/>
        </p:nvSpPr>
        <p:spPr>
          <a:xfrm>
            <a:off x="4914777" y="3517810"/>
            <a:ext cx="507987" cy="330194"/>
          </a:xfrm>
          <a:prstGeom prst="rect">
            <a:avLst/>
          </a:prstGeom>
          <a:noFill/>
          <a:ln/>
        </p:spPr>
        <p:txBody>
          <a:bodyPr wrap="square" lIns="0" tIns="0" rIns="0" bIns="0" rtlCol="0" anchor="t"/>
          <a:lstStyle/>
          <a:p>
            <a:pPr algn="ctr" indent="0" marL="0">
              <a:lnSpc>
                <a:spcPct val="185714"/>
              </a:lnSpc>
              <a:buNone/>
            </a:pPr>
            <a:r>
              <a:rPr lang="en-US" sz="1300" b="1" dirty="0">
                <a:solidFill>
                  <a:srgbClr val="E3A087"/>
                </a:solidFill>
                <a:latin typeface="Calibri" pitchFamily="34" charset="0"/>
                <a:ea typeface="Calibri" pitchFamily="34" charset="-122"/>
                <a:cs typeface="Calibri" pitchFamily="34" charset="-120"/>
              </a:rPr>
              <a:t>02
</a:t>
            </a:r>
            <a:endParaRPr lang="en-US" sz="1300" dirty="0"/>
          </a:p>
        </p:txBody>
      </p:sp>
      <p:sp>
        <p:nvSpPr>
          <p:cNvPr id="21" name="Shape 14"/>
          <p:cNvSpPr/>
          <p:nvPr/>
        </p:nvSpPr>
        <p:spPr>
          <a:xfrm>
            <a:off x="5244969" y="4769923"/>
            <a:ext cx="507988" cy="330188"/>
          </a:xfrm>
          <a:prstGeom prst="roundRect">
            <a:avLst>
              <a:gd name="adj" fmla="val 25000"/>
            </a:avLst>
          </a:prstGeom>
          <a:solidFill>
            <a:srgbClr val="E3A087">
              <a:alpha val="10000"/>
            </a:srgbClr>
          </a:solidFill>
          <a:ln/>
        </p:spPr>
      </p:sp>
      <p:sp>
        <p:nvSpPr>
          <p:cNvPr id="22" name="Text 15"/>
          <p:cNvSpPr/>
          <p:nvPr/>
        </p:nvSpPr>
        <p:spPr>
          <a:xfrm>
            <a:off x="5244969" y="4769923"/>
            <a:ext cx="507988" cy="330188"/>
          </a:xfrm>
          <a:prstGeom prst="rect">
            <a:avLst/>
          </a:prstGeom>
          <a:noFill/>
          <a:ln/>
        </p:spPr>
        <p:txBody>
          <a:bodyPr wrap="square" lIns="0" tIns="0" rIns="0" bIns="0" rtlCol="0" anchor="t"/>
          <a:lstStyle/>
          <a:p>
            <a:pPr algn="ctr" indent="0" marL="0">
              <a:lnSpc>
                <a:spcPct val="185714"/>
              </a:lnSpc>
              <a:buNone/>
            </a:pPr>
            <a:r>
              <a:rPr lang="en-US" sz="1300" b="1" dirty="0">
                <a:solidFill>
                  <a:srgbClr val="E3A087"/>
                </a:solidFill>
                <a:latin typeface="Calibri" pitchFamily="34" charset="0"/>
                <a:ea typeface="Calibri" pitchFamily="34" charset="-122"/>
                <a:cs typeface="Calibri" pitchFamily="34" charset="-120"/>
              </a:rPr>
              <a:t>03
</a:t>
            </a:r>
            <a:endParaRPr lang="en-US" sz="1300" dirty="0"/>
          </a:p>
        </p:txBody>
      </p:sp>
      <p:pic>
        <p:nvPicPr>
          <p:cNvPr id="23" name="Image 5" descr="preencoded.png">    </p:cNvPr>
          <p:cNvPicPr>
            <a:picLocks noChangeAspect="1"/>
          </p:cNvPicPr>
          <p:nvPr/>
        </p:nvPicPr>
        <p:blipFill>
          <a:blip r:embed="rId6"/>
          <a:srcRect l="0" r="0" t="0" b="0"/>
          <a:stretch/>
        </p:blipFill>
        <p:spPr>
          <a:xfrm>
            <a:off x="761981" y="1931741"/>
            <a:ext cx="4190895" cy="3014986"/>
          </a:xfrm>
          <a:prstGeom prst="rect">
            <a:avLst/>
          </a:prstGeom>
        </p:spPr>
      </p:pic>
      <p:sp>
        <p:nvSpPr>
          <p:cNvPr id="24" name="Text 16"/>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89778" y="-1269968"/>
            <a:ext cx="3256197" cy="4444889"/>
          </a:xfrm>
          <a:prstGeom prst="rect">
            <a:avLst/>
          </a:prstGeom>
        </p:spPr>
      </p:pic>
      <p:sp>
        <p:nvSpPr>
          <p:cNvPr id="3" name="Shape 0"/>
          <p:cNvSpPr/>
          <p:nvPr/>
        </p:nvSpPr>
        <p:spPr>
          <a:xfrm>
            <a:off x="10267296" y="6553036"/>
            <a:ext cx="1848201" cy="228594"/>
          </a:xfrm>
          <a:prstGeom prst="rect">
            <a:avLst/>
          </a:prstGeom>
          <a:solidFill>
            <a:srgbClr val="000000">
              <a:alpha val="60000"/>
            </a:srgbClr>
          </a:solidFill>
          <a:ln/>
        </p:spPr>
      </p:sp>
      <p:pic>
        <p:nvPicPr>
          <p:cNvPr id="4" name="Image 1" descr="preencoded.png">    </p:cNvPr>
          <p:cNvPicPr>
            <a:picLocks noChangeAspect="1"/>
          </p:cNvPicPr>
          <p:nvPr/>
        </p:nvPicPr>
        <p:blipFill>
          <a:blip r:embed="rId2"/>
          <a:stretch>
            <a:fillRect/>
          </a:stretch>
        </p:blipFill>
        <p:spPr>
          <a:xfrm>
            <a:off x="10667733" y="5333867"/>
            <a:ext cx="1396965" cy="1396965"/>
          </a:xfrm>
          <a:prstGeom prst="rect">
            <a:avLst/>
          </a:prstGeom>
        </p:spPr>
      </p:pic>
      <p:pic>
        <p:nvPicPr>
          <p:cNvPr id="5" name="Image 2" descr="preencoded.png">    </p:cNvPr>
          <p:cNvPicPr>
            <a:picLocks noChangeAspect="1"/>
          </p:cNvPicPr>
          <p:nvPr/>
        </p:nvPicPr>
        <p:blipFill>
          <a:blip r:embed="rId3"/>
          <a:stretch>
            <a:fillRect/>
          </a:stretch>
        </p:blipFill>
        <p:spPr>
          <a:xfrm>
            <a:off x="0" y="1269968"/>
            <a:ext cx="63498" cy="4444889"/>
          </a:xfrm>
          <a:prstGeom prst="rect">
            <a:avLst/>
          </a:prstGeom>
        </p:spPr>
      </p:pic>
      <p:pic>
        <p:nvPicPr>
          <p:cNvPr id="6" name="Image 3" descr="preencoded.png">    </p:cNvPr>
          <p:cNvPicPr>
            <a:picLocks noChangeAspect="1"/>
          </p:cNvPicPr>
          <p:nvPr/>
        </p:nvPicPr>
        <p:blipFill>
          <a:blip r:embed="rId4"/>
          <a:stretch>
            <a:fillRect/>
          </a:stretch>
        </p:blipFill>
        <p:spPr>
          <a:xfrm>
            <a:off x="10413740" y="6286343"/>
            <a:ext cx="1269968" cy="431789"/>
          </a:xfrm>
          <a:prstGeom prst="rect">
            <a:avLst/>
          </a:prstGeom>
        </p:spPr>
      </p:pic>
      <p:pic>
        <p:nvPicPr>
          <p:cNvPr id="7" name="Image 4" descr="preencoded.png">    </p:cNvPr>
          <p:cNvPicPr>
            <a:picLocks noChangeAspect="1"/>
          </p:cNvPicPr>
          <p:nvPr/>
        </p:nvPicPr>
        <p:blipFill>
          <a:blip r:embed="rId5"/>
          <a:stretch>
            <a:fillRect/>
          </a:stretch>
        </p:blipFill>
        <p:spPr>
          <a:xfrm>
            <a:off x="0" y="0"/>
            <a:ext cx="12145975" cy="76198"/>
          </a:xfrm>
          <a:prstGeom prst="rect">
            <a:avLst/>
          </a:prstGeom>
        </p:spPr>
      </p:pic>
      <p:sp>
        <p:nvSpPr>
          <p:cNvPr id="8" name="Text 1"/>
          <p:cNvSpPr/>
          <p:nvPr/>
        </p:nvSpPr>
        <p:spPr>
          <a:xfrm>
            <a:off x="609585" y="2501839"/>
            <a:ext cx="3536861" cy="507986"/>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Bar chart showing revenue by gender
</a:t>
            </a:r>
            <a:endParaRPr lang="en-US" sz="1400" dirty="0"/>
          </a:p>
        </p:txBody>
      </p:sp>
      <p:sp>
        <p:nvSpPr>
          <p:cNvPr id="9" name="Text 2"/>
          <p:cNvSpPr/>
          <p:nvPr/>
        </p:nvSpPr>
        <p:spPr>
          <a:xfrm>
            <a:off x="609585" y="3060622"/>
            <a:ext cx="3536861" cy="257764"/>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Bar chart showing revenue by gender.
</a:t>
            </a:r>
            <a:endParaRPr lang="en-US" sz="1300" dirty="0"/>
          </a:p>
        </p:txBody>
      </p:sp>
      <p:sp>
        <p:nvSpPr>
          <p:cNvPr id="10" name="Text 3"/>
          <p:cNvSpPr/>
          <p:nvPr/>
        </p:nvSpPr>
        <p:spPr>
          <a:xfrm>
            <a:off x="4781430" y="2501839"/>
            <a:ext cx="3536861"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Top 5 products by average rating
</a:t>
            </a:r>
            <a:endParaRPr lang="en-US" sz="1400" dirty="0"/>
          </a:p>
        </p:txBody>
      </p:sp>
      <p:sp>
        <p:nvSpPr>
          <p:cNvPr id="11" name="Text 4"/>
          <p:cNvSpPr/>
          <p:nvPr/>
        </p:nvSpPr>
        <p:spPr>
          <a:xfrm>
            <a:off x="4781430" y="2806632"/>
            <a:ext cx="3536861"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Top 5 products by average rating displayed.
</a:t>
            </a:r>
            <a:endParaRPr lang="en-US" sz="1300" dirty="0"/>
          </a:p>
        </p:txBody>
      </p:sp>
      <p:sp>
        <p:nvSpPr>
          <p:cNvPr id="12" name="Text 5"/>
          <p:cNvSpPr/>
          <p:nvPr/>
        </p:nvSpPr>
        <p:spPr>
          <a:xfrm>
            <a:off x="609585" y="4160338"/>
            <a:ext cx="3536861" cy="507986"/>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Revenue comparisons between subscribers and non-subscribers
</a:t>
            </a:r>
            <a:endParaRPr lang="en-US" sz="1400" dirty="0"/>
          </a:p>
        </p:txBody>
      </p:sp>
      <p:sp>
        <p:nvSpPr>
          <p:cNvPr id="13" name="Text 6"/>
          <p:cNvSpPr/>
          <p:nvPr/>
        </p:nvSpPr>
        <p:spPr>
          <a:xfrm>
            <a:off x="609585" y="4719121"/>
            <a:ext cx="3536861"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Revenue comparisons between subscribers and non-subscribers.
</a:t>
            </a:r>
            <a:endParaRPr lang="en-US" sz="1300" dirty="0"/>
          </a:p>
        </p:txBody>
      </p:sp>
      <p:sp>
        <p:nvSpPr>
          <p:cNvPr id="14" name="Text 7"/>
          <p:cNvSpPr/>
          <p:nvPr/>
        </p:nvSpPr>
        <p:spPr>
          <a:xfrm>
            <a:off x="4781430" y="4160338"/>
            <a:ext cx="3536861" cy="507986"/>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Customer segmentation breakdown visualization
</a:t>
            </a:r>
            <a:endParaRPr lang="en-US" sz="1400" dirty="0"/>
          </a:p>
        </p:txBody>
      </p:sp>
      <p:sp>
        <p:nvSpPr>
          <p:cNvPr id="15" name="Text 8"/>
          <p:cNvSpPr/>
          <p:nvPr/>
        </p:nvSpPr>
        <p:spPr>
          <a:xfrm>
            <a:off x="4781430" y="4719121"/>
            <a:ext cx="3536861"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Customer segmentation breakdown visualization.
</a:t>
            </a:r>
            <a:endParaRPr lang="en-US" sz="1300" dirty="0"/>
          </a:p>
        </p:txBody>
      </p:sp>
      <p:sp>
        <p:nvSpPr>
          <p:cNvPr id="16" name="Text 9"/>
          <p:cNvSpPr/>
          <p:nvPr/>
        </p:nvSpPr>
        <p:spPr>
          <a:xfrm>
            <a:off x="10343494" y="6578437"/>
            <a:ext cx="1695805" cy="177792"/>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Georgia" pitchFamily="34" charset="0"/>
                <a:ea typeface="Georgia" pitchFamily="34" charset="-122"/>
                <a:cs typeface="Georgia" pitchFamily="34" charset="-120"/>
              </a:rPr>
              <a:t>Photo by Campaign Creators
</a:t>
            </a:r>
            <a:endParaRPr lang="en-US" sz="900" dirty="0"/>
          </a:p>
        </p:txBody>
      </p:sp>
      <p:sp>
        <p:nvSpPr>
          <p:cNvPr id="17" name="Text 10"/>
          <p:cNvSpPr/>
          <p:nvPr/>
        </p:nvSpPr>
        <p:spPr>
          <a:xfrm>
            <a:off x="380990" y="1445383"/>
            <a:ext cx="8140496" cy="396070"/>
          </a:xfrm>
          <a:prstGeom prst="rect">
            <a:avLst/>
          </a:prstGeom>
          <a:noFill/>
          <a:ln/>
        </p:spPr>
        <p:txBody>
          <a:bodyPr wrap="square" lIns="1016" tIns="1016" rIns="1016" bIns="1016" rtlCol="0" anchor="t"/>
          <a:lstStyle/>
          <a:p>
            <a:pPr indent="0" marL="0">
              <a:lnSpc>
                <a:spcPct val="120000"/>
              </a:lnSpc>
              <a:buNone/>
            </a:pPr>
            <a:r>
              <a:rPr lang="en-US" sz="2300" b="1" dirty="0">
                <a:solidFill>
                  <a:srgbClr val="F9DAC1"/>
                </a:solidFill>
                <a:latin typeface="Georgia" pitchFamily="34" charset="0"/>
                <a:ea typeface="Georgia" pitchFamily="34" charset="-122"/>
                <a:cs typeface="Georgia" pitchFamily="34" charset="-120"/>
              </a:rPr>
              <a:t>Key Findings
</a:t>
            </a:r>
            <a:endParaRPr lang="en-US" sz="2300" dirty="0"/>
          </a:p>
        </p:txBody>
      </p:sp>
      <p:pic>
        <p:nvPicPr>
          <p:cNvPr id="18" name="Image 5"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6885" y="2184344"/>
            <a:ext cx="228594" cy="228594"/>
          </a:xfrm>
          <a:prstGeom prst="rect">
            <a:avLst/>
          </a:prstGeom>
        </p:spPr>
      </p:pic>
      <p:pic>
        <p:nvPicPr>
          <p:cNvPr id="19" name="Image 6"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68731" y="2184344"/>
            <a:ext cx="228594" cy="228594"/>
          </a:xfrm>
          <a:prstGeom prst="rect">
            <a:avLst/>
          </a:prstGeom>
        </p:spPr>
      </p:pic>
      <p:pic>
        <p:nvPicPr>
          <p:cNvPr id="20" name="Image 7"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96885" y="3842843"/>
            <a:ext cx="228594" cy="228594"/>
          </a:xfrm>
          <a:prstGeom prst="rect">
            <a:avLst/>
          </a:prstGeom>
        </p:spPr>
      </p:pic>
      <p:pic>
        <p:nvPicPr>
          <p:cNvPr id="21" name="Image 8"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68731" y="3842843"/>
            <a:ext cx="228594" cy="228594"/>
          </a:xfrm>
          <a:prstGeom prst="rect">
            <a:avLst/>
          </a:prstGeom>
        </p:spPr>
      </p:pic>
      <p:pic>
        <p:nvPicPr>
          <p:cNvPr id="22" name="Image 9" descr="preencoded.png">    </p:cNvPr>
          <p:cNvPicPr>
            <a:picLocks noChangeAspect="1"/>
          </p:cNvPicPr>
          <p:nvPr/>
        </p:nvPicPr>
        <p:blipFill>
          <a:blip r:embed="rId14"/>
          <a:srcRect l="0" r="0" t="0" b="0"/>
          <a:stretch/>
        </p:blipFill>
        <p:spPr>
          <a:xfrm>
            <a:off x="8775480" y="0"/>
            <a:ext cx="3370495" cy="6812280"/>
          </a:xfrm>
          <a:prstGeom prst="rect">
            <a:avLst/>
          </a:prstGeom>
        </p:spPr>
      </p:pic>
      <p:sp>
        <p:nvSpPr>
          <p:cNvPr id="23" name="Text 1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89778" y="-1269968"/>
            <a:ext cx="3256197" cy="4444889"/>
          </a:xfrm>
          <a:prstGeom prst="rect">
            <a:avLst/>
          </a:prstGeom>
        </p:spPr>
      </p:pic>
      <p:sp>
        <p:nvSpPr>
          <p:cNvPr id="3" name="Shape 0"/>
          <p:cNvSpPr/>
          <p:nvPr/>
        </p:nvSpPr>
        <p:spPr>
          <a:xfrm>
            <a:off x="7289617" y="6553036"/>
            <a:ext cx="1380099" cy="228594"/>
          </a:xfrm>
          <a:prstGeom prst="rect">
            <a:avLst/>
          </a:prstGeom>
          <a:solidFill>
            <a:srgbClr val="000000">
              <a:alpha val="60000"/>
            </a:srgbClr>
          </a:solidFill>
          <a:ln/>
        </p:spPr>
      </p:sp>
      <p:pic>
        <p:nvPicPr>
          <p:cNvPr id="4" name="Image 1" descr="preencoded.png">    </p:cNvPr>
          <p:cNvPicPr>
            <a:picLocks noChangeAspect="1"/>
          </p:cNvPicPr>
          <p:nvPr/>
        </p:nvPicPr>
        <p:blipFill>
          <a:blip r:embed="rId2"/>
          <a:stretch>
            <a:fillRect/>
          </a:stretch>
        </p:blipFill>
        <p:spPr>
          <a:xfrm>
            <a:off x="10667733" y="5333867"/>
            <a:ext cx="1396965" cy="1396965"/>
          </a:xfrm>
          <a:prstGeom prst="rect">
            <a:avLst/>
          </a:prstGeom>
        </p:spPr>
      </p:pic>
      <p:pic>
        <p:nvPicPr>
          <p:cNvPr id="5" name="Image 2" descr="preencoded.png">    </p:cNvPr>
          <p:cNvPicPr>
            <a:picLocks noChangeAspect="1"/>
          </p:cNvPicPr>
          <p:nvPr/>
        </p:nvPicPr>
        <p:blipFill>
          <a:blip r:embed="rId3"/>
          <a:stretch>
            <a:fillRect/>
          </a:stretch>
        </p:blipFill>
        <p:spPr>
          <a:xfrm>
            <a:off x="0" y="1269968"/>
            <a:ext cx="63498" cy="4444889"/>
          </a:xfrm>
          <a:prstGeom prst="rect">
            <a:avLst/>
          </a:prstGeom>
        </p:spPr>
      </p:pic>
      <p:pic>
        <p:nvPicPr>
          <p:cNvPr id="6" name="Image 3" descr="preencoded.png">    </p:cNvPr>
          <p:cNvPicPr>
            <a:picLocks noChangeAspect="1"/>
          </p:cNvPicPr>
          <p:nvPr/>
        </p:nvPicPr>
        <p:blipFill>
          <a:blip r:embed="rId4"/>
          <a:stretch>
            <a:fillRect/>
          </a:stretch>
        </p:blipFill>
        <p:spPr>
          <a:xfrm>
            <a:off x="10413740" y="6286343"/>
            <a:ext cx="1269968" cy="431789"/>
          </a:xfrm>
          <a:prstGeom prst="rect">
            <a:avLst/>
          </a:prstGeom>
        </p:spPr>
      </p:pic>
      <p:pic>
        <p:nvPicPr>
          <p:cNvPr id="7" name="Image 4" descr="preencoded.png">    </p:cNvPr>
          <p:cNvPicPr>
            <a:picLocks noChangeAspect="1"/>
          </p:cNvPicPr>
          <p:nvPr/>
        </p:nvPicPr>
        <p:blipFill>
          <a:blip r:embed="rId5"/>
          <a:stretch>
            <a:fillRect/>
          </a:stretch>
        </p:blipFill>
        <p:spPr>
          <a:xfrm>
            <a:off x="0" y="0"/>
            <a:ext cx="12145975" cy="76198"/>
          </a:xfrm>
          <a:prstGeom prst="rect">
            <a:avLst/>
          </a:prstGeom>
        </p:spPr>
      </p:pic>
      <p:sp>
        <p:nvSpPr>
          <p:cNvPr id="8" name="Text 1"/>
          <p:cNvSpPr/>
          <p:nvPr/>
        </p:nvSpPr>
        <p:spPr>
          <a:xfrm>
            <a:off x="1282668" y="2032543"/>
            <a:ext cx="5410065" cy="253995"/>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Boost Subscription Benefits
</a:t>
            </a:r>
            <a:endParaRPr lang="en-US" sz="1400" dirty="0"/>
          </a:p>
        </p:txBody>
      </p:sp>
      <p:sp>
        <p:nvSpPr>
          <p:cNvPr id="9" name="Text 2"/>
          <p:cNvSpPr/>
          <p:nvPr/>
        </p:nvSpPr>
        <p:spPr>
          <a:xfrm>
            <a:off x="1282668" y="2337335"/>
            <a:ext cx="5410065"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Promote exclusive benefits to increase subscriber engagement and retention.
</a:t>
            </a:r>
            <a:endParaRPr lang="en-US" sz="1300" dirty="0"/>
          </a:p>
        </p:txBody>
      </p:sp>
      <p:sp>
        <p:nvSpPr>
          <p:cNvPr id="10" name="Text 3"/>
          <p:cNvSpPr/>
          <p:nvPr/>
        </p:nvSpPr>
        <p:spPr>
          <a:xfrm>
            <a:off x="1282668" y="3081457"/>
            <a:ext cx="5410065" cy="253995"/>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Implement Loyalty Programs
</a:t>
            </a:r>
            <a:endParaRPr lang="en-US" sz="1400" dirty="0"/>
          </a:p>
        </p:txBody>
      </p:sp>
      <p:sp>
        <p:nvSpPr>
          <p:cNvPr id="11" name="Text 4"/>
          <p:cNvSpPr/>
          <p:nvPr/>
        </p:nvSpPr>
        <p:spPr>
          <a:xfrm>
            <a:off x="1282668" y="3386250"/>
            <a:ext cx="5410065"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Reward repeat buyers to enhance customer loyalty and increase sales.
</a:t>
            </a:r>
            <a:endParaRPr lang="en-US" sz="1300" dirty="0"/>
          </a:p>
        </p:txBody>
      </p:sp>
      <p:sp>
        <p:nvSpPr>
          <p:cNvPr id="12" name="Text 5"/>
          <p:cNvSpPr/>
          <p:nvPr/>
        </p:nvSpPr>
        <p:spPr>
          <a:xfrm>
            <a:off x="1282668" y="4130372"/>
            <a:ext cx="5410065" cy="253995"/>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Review Discount Policies
</a:t>
            </a:r>
            <a:endParaRPr lang="en-US" sz="1400" dirty="0"/>
          </a:p>
        </p:txBody>
      </p:sp>
      <p:sp>
        <p:nvSpPr>
          <p:cNvPr id="13" name="Text 6"/>
          <p:cNvSpPr/>
          <p:nvPr/>
        </p:nvSpPr>
        <p:spPr>
          <a:xfrm>
            <a:off x="1282668" y="4435164"/>
            <a:ext cx="5410065"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Adjust discount strategies to balance sales growth with profit margins.
</a:t>
            </a:r>
            <a:endParaRPr lang="en-US" sz="1300" dirty="0"/>
          </a:p>
        </p:txBody>
      </p:sp>
      <p:sp>
        <p:nvSpPr>
          <p:cNvPr id="14" name="Text 7"/>
          <p:cNvSpPr/>
          <p:nvPr/>
        </p:nvSpPr>
        <p:spPr>
          <a:xfrm>
            <a:off x="1282668" y="5179286"/>
            <a:ext cx="5410065" cy="253995"/>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Targeted Marketing Efforts
</a:t>
            </a:r>
            <a:endParaRPr lang="en-US" sz="1400" dirty="0"/>
          </a:p>
        </p:txBody>
      </p:sp>
      <p:sp>
        <p:nvSpPr>
          <p:cNvPr id="15" name="Text 8"/>
          <p:cNvSpPr/>
          <p:nvPr/>
        </p:nvSpPr>
        <p:spPr>
          <a:xfrm>
            <a:off x="1282668" y="5484078"/>
            <a:ext cx="5410065" cy="257764"/>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Focus marketing on high-revenue age groups to maximize ROI.
</a:t>
            </a:r>
            <a:endParaRPr lang="en-US" sz="1300" dirty="0"/>
          </a:p>
        </p:txBody>
      </p:sp>
      <p:sp>
        <p:nvSpPr>
          <p:cNvPr id="16" name="Text 9"/>
          <p:cNvSpPr/>
          <p:nvPr/>
        </p:nvSpPr>
        <p:spPr>
          <a:xfrm>
            <a:off x="7365815" y="6578437"/>
            <a:ext cx="1227702" cy="177792"/>
          </a:xfrm>
          <a:prstGeom prst="rect">
            <a:avLst/>
          </a:prstGeom>
          <a:noFill/>
          <a:ln/>
        </p:spPr>
        <p:txBody>
          <a:bodyPr wrap="square" lIns="1016" tIns="1016" rIns="1016" bIns="1016" rtlCol="0" anchor="t"/>
          <a:lstStyle/>
          <a:p>
            <a:pPr indent="0" marL="0">
              <a:lnSpc>
                <a:spcPct val="140000"/>
              </a:lnSpc>
              <a:buNone/>
            </a:pPr>
            <a:r>
              <a:rPr lang="en-US" sz="900" dirty="0">
                <a:solidFill>
                  <a:srgbClr val="FFFFFF"/>
                </a:solidFill>
                <a:latin typeface="Georgia" pitchFamily="34" charset="0"/>
                <a:ea typeface="Georgia" pitchFamily="34" charset="-122"/>
                <a:cs typeface="Georgia" pitchFamily="34" charset="-120"/>
              </a:rPr>
              <a:t>Photo by path digital
</a:t>
            </a:r>
            <a:endParaRPr lang="en-US" sz="900" dirty="0"/>
          </a:p>
        </p:txBody>
      </p:sp>
      <p:sp>
        <p:nvSpPr>
          <p:cNvPr id="17" name="Text 10"/>
          <p:cNvSpPr/>
          <p:nvPr/>
        </p:nvSpPr>
        <p:spPr>
          <a:xfrm>
            <a:off x="711182" y="1103086"/>
            <a:ext cx="5994250" cy="396070"/>
          </a:xfrm>
          <a:prstGeom prst="rect">
            <a:avLst/>
          </a:prstGeom>
          <a:noFill/>
          <a:ln/>
        </p:spPr>
        <p:txBody>
          <a:bodyPr wrap="square" lIns="1016" tIns="1016" rIns="1016" bIns="1016" rtlCol="0" anchor="t"/>
          <a:lstStyle/>
          <a:p>
            <a:pPr indent="0" marL="0">
              <a:lnSpc>
                <a:spcPct val="120000"/>
              </a:lnSpc>
              <a:buNone/>
            </a:pPr>
            <a:r>
              <a:rPr lang="en-US" sz="2300" b="1" dirty="0">
                <a:solidFill>
                  <a:srgbClr val="F9DAC1"/>
                </a:solidFill>
                <a:latin typeface="Georgia" pitchFamily="34" charset="0"/>
                <a:ea typeface="Georgia" pitchFamily="34" charset="-122"/>
                <a:cs typeface="Georgia" pitchFamily="34" charset="-120"/>
              </a:rPr>
              <a:t>Business Recommendations
</a:t>
            </a:r>
            <a:endParaRPr lang="en-US" sz="2300" dirty="0"/>
          </a:p>
        </p:txBody>
      </p:sp>
      <p:sp>
        <p:nvSpPr>
          <p:cNvPr id="18" name="Shape 11"/>
          <p:cNvSpPr/>
          <p:nvPr/>
        </p:nvSpPr>
        <p:spPr>
          <a:xfrm>
            <a:off x="711182" y="1727750"/>
            <a:ext cx="660384" cy="63500"/>
          </a:xfrm>
          <a:prstGeom prst="ellipse">
            <a:avLst/>
          </a:prstGeom>
          <a:solidFill>
            <a:srgbClr val="E3A087"/>
          </a:solidFill>
          <a:ln/>
        </p:spPr>
      </p:sp>
      <p:sp>
        <p:nvSpPr>
          <p:cNvPr id="19" name="Shape 12"/>
          <p:cNvSpPr/>
          <p:nvPr/>
        </p:nvSpPr>
        <p:spPr>
          <a:xfrm>
            <a:off x="711182" y="2032543"/>
            <a:ext cx="380990" cy="380990"/>
          </a:xfrm>
          <a:prstGeom prst="ellipse">
            <a:avLst/>
          </a:prstGeom>
          <a:solidFill>
            <a:srgbClr val="E3A087">
              <a:alpha val="12000"/>
            </a:srgbClr>
          </a:solidFill>
          <a:ln/>
        </p:spPr>
      </p:sp>
      <p:pic>
        <p:nvPicPr>
          <p:cNvPr id="20" name="Image 5"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0081" y="2121444"/>
            <a:ext cx="203193" cy="203193"/>
          </a:xfrm>
          <a:prstGeom prst="rect">
            <a:avLst/>
          </a:prstGeom>
        </p:spPr>
      </p:pic>
      <p:sp>
        <p:nvSpPr>
          <p:cNvPr id="21" name="Shape 13"/>
          <p:cNvSpPr/>
          <p:nvPr/>
        </p:nvSpPr>
        <p:spPr>
          <a:xfrm>
            <a:off x="711182" y="3081457"/>
            <a:ext cx="380990" cy="380990"/>
          </a:xfrm>
          <a:prstGeom prst="ellipse">
            <a:avLst/>
          </a:prstGeom>
          <a:solidFill>
            <a:srgbClr val="E3A087">
              <a:alpha val="12000"/>
            </a:srgbClr>
          </a:solidFill>
          <a:ln/>
        </p:spPr>
      </p:sp>
      <p:pic>
        <p:nvPicPr>
          <p:cNvPr id="22" name="Image 6"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0081" y="3170358"/>
            <a:ext cx="203193" cy="203193"/>
          </a:xfrm>
          <a:prstGeom prst="rect">
            <a:avLst/>
          </a:prstGeom>
        </p:spPr>
      </p:pic>
      <p:sp>
        <p:nvSpPr>
          <p:cNvPr id="23" name="Shape 14"/>
          <p:cNvSpPr/>
          <p:nvPr/>
        </p:nvSpPr>
        <p:spPr>
          <a:xfrm>
            <a:off x="711182" y="4130372"/>
            <a:ext cx="380990" cy="380990"/>
          </a:xfrm>
          <a:prstGeom prst="ellipse">
            <a:avLst/>
          </a:prstGeom>
          <a:solidFill>
            <a:srgbClr val="E3A087">
              <a:alpha val="12000"/>
            </a:srgbClr>
          </a:solidFill>
          <a:ln/>
        </p:spPr>
      </p:sp>
      <p:pic>
        <p:nvPicPr>
          <p:cNvPr id="24" name="Image 7"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0081" y="4219273"/>
            <a:ext cx="203193" cy="203193"/>
          </a:xfrm>
          <a:prstGeom prst="rect">
            <a:avLst/>
          </a:prstGeom>
        </p:spPr>
      </p:pic>
      <p:sp>
        <p:nvSpPr>
          <p:cNvPr id="25" name="Shape 15"/>
          <p:cNvSpPr/>
          <p:nvPr/>
        </p:nvSpPr>
        <p:spPr>
          <a:xfrm>
            <a:off x="711182" y="5179286"/>
            <a:ext cx="380990" cy="380990"/>
          </a:xfrm>
          <a:prstGeom prst="ellipse">
            <a:avLst/>
          </a:prstGeom>
          <a:solidFill>
            <a:srgbClr val="E3A087">
              <a:alpha val="12000"/>
            </a:srgbClr>
          </a:solidFill>
          <a:ln/>
        </p:spPr>
      </p:sp>
      <p:pic>
        <p:nvPicPr>
          <p:cNvPr id="26" name="Image 8"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00081" y="5268187"/>
            <a:ext cx="203193" cy="203193"/>
          </a:xfrm>
          <a:prstGeom prst="rect">
            <a:avLst/>
          </a:prstGeom>
        </p:spPr>
      </p:pic>
      <p:sp>
        <p:nvSpPr>
          <p:cNvPr id="27" name="Shape 16"/>
          <p:cNvSpPr/>
          <p:nvPr/>
        </p:nvSpPr>
        <p:spPr>
          <a:xfrm>
            <a:off x="7137221" y="0"/>
            <a:ext cx="76198" cy="6812280"/>
          </a:xfrm>
          <a:prstGeom prst="rect">
            <a:avLst/>
          </a:prstGeom>
          <a:solidFill>
            <a:srgbClr val="E3A087"/>
          </a:solidFill>
          <a:ln/>
        </p:spPr>
      </p:sp>
      <p:pic>
        <p:nvPicPr>
          <p:cNvPr id="28" name="Image 9" descr="preencoded.png">    </p:cNvPr>
          <p:cNvPicPr>
            <a:picLocks noChangeAspect="1"/>
          </p:cNvPicPr>
          <p:nvPr/>
        </p:nvPicPr>
        <p:blipFill>
          <a:blip r:embed="rId14"/>
          <a:srcRect l="0" r="0" t="0" b="0"/>
          <a:stretch/>
        </p:blipFill>
        <p:spPr>
          <a:xfrm>
            <a:off x="7213419" y="0"/>
            <a:ext cx="4932556" cy="6812280"/>
          </a:xfrm>
          <a:prstGeom prst="rect">
            <a:avLst/>
          </a:prstGeom>
        </p:spPr>
      </p:pic>
      <p:sp>
        <p:nvSpPr>
          <p:cNvPr id="29" name="Text 17"/>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269968" y="1269968"/>
            <a:ext cx="4444889" cy="4444889"/>
          </a:xfrm>
          <a:prstGeom prst="rect">
            <a:avLst/>
          </a:prstGeom>
        </p:spPr>
      </p:pic>
      <p:pic>
        <p:nvPicPr>
          <p:cNvPr id="3" name="Image 1" descr="preencoded.png">    </p:cNvPr>
          <p:cNvPicPr>
            <a:picLocks noChangeAspect="1"/>
          </p:cNvPicPr>
          <p:nvPr/>
        </p:nvPicPr>
        <p:blipFill>
          <a:blip r:embed="rId2"/>
          <a:stretch>
            <a:fillRect/>
          </a:stretch>
        </p:blipFill>
        <p:spPr>
          <a:xfrm>
            <a:off x="6222844" y="888978"/>
            <a:ext cx="5333867" cy="5079873"/>
          </a:xfrm>
          <a:prstGeom prst="rect">
            <a:avLst/>
          </a:prstGeom>
        </p:spPr>
      </p:pic>
      <p:pic>
        <p:nvPicPr>
          <p:cNvPr id="4" name="Image 2" descr="preencoded.png">    </p:cNvPr>
          <p:cNvPicPr>
            <a:picLocks noChangeAspect="1"/>
          </p:cNvPicPr>
          <p:nvPr/>
        </p:nvPicPr>
        <p:blipFill>
          <a:blip r:embed="rId3"/>
          <a:stretch>
            <a:fillRect/>
          </a:stretch>
        </p:blipFill>
        <p:spPr>
          <a:xfrm>
            <a:off x="4571886" y="5460863"/>
            <a:ext cx="1396965" cy="1269968"/>
          </a:xfrm>
          <a:prstGeom prst="rect">
            <a:avLst/>
          </a:prstGeom>
        </p:spPr>
      </p:pic>
      <p:pic>
        <p:nvPicPr>
          <p:cNvPr id="5" name="Image 3" descr="preencoded.png">    </p:cNvPr>
          <p:cNvPicPr>
            <a:picLocks noChangeAspect="1"/>
          </p:cNvPicPr>
          <p:nvPr/>
        </p:nvPicPr>
        <p:blipFill>
          <a:blip r:embed="rId4"/>
          <a:stretch>
            <a:fillRect/>
          </a:stretch>
        </p:blipFill>
        <p:spPr>
          <a:xfrm>
            <a:off x="0" y="380990"/>
            <a:ext cx="63498" cy="3555911"/>
          </a:xfrm>
          <a:prstGeom prst="rect">
            <a:avLst/>
          </a:prstGeom>
        </p:spPr>
      </p:pic>
      <p:pic>
        <p:nvPicPr>
          <p:cNvPr id="6" name="Image 4" descr="preencoded.png">    </p:cNvPr>
          <p:cNvPicPr>
            <a:picLocks noChangeAspect="1"/>
          </p:cNvPicPr>
          <p:nvPr/>
        </p:nvPicPr>
        <p:blipFill>
          <a:blip r:embed="rId5"/>
          <a:stretch>
            <a:fillRect/>
          </a:stretch>
        </p:blipFill>
        <p:spPr>
          <a:xfrm>
            <a:off x="0" y="0"/>
            <a:ext cx="12145975" cy="76198"/>
          </a:xfrm>
          <a:prstGeom prst="rect">
            <a:avLst/>
          </a:prstGeom>
        </p:spPr>
      </p:pic>
      <p:sp>
        <p:nvSpPr>
          <p:cNvPr id="7" name="Text 0"/>
          <p:cNvSpPr/>
          <p:nvPr/>
        </p:nvSpPr>
        <p:spPr>
          <a:xfrm>
            <a:off x="711182" y="1614250"/>
            <a:ext cx="6705432" cy="914377"/>
          </a:xfrm>
          <a:prstGeom prst="rect">
            <a:avLst/>
          </a:prstGeom>
          <a:noFill/>
          <a:ln/>
        </p:spPr>
        <p:txBody>
          <a:bodyPr wrap="square" lIns="1016" tIns="1016" rIns="1016" bIns="1016" rtlCol="0" anchor="t"/>
          <a:lstStyle/>
          <a:p>
            <a:pPr indent="0" marL="0">
              <a:lnSpc>
                <a:spcPct val="120000"/>
              </a:lnSpc>
              <a:buNone/>
            </a:pPr>
            <a:r>
              <a:rPr lang="en-US" sz="2700" b="1" dirty="0">
                <a:solidFill>
                  <a:srgbClr val="F9DAC1"/>
                </a:solidFill>
                <a:latin typeface="Georgia" pitchFamily="34" charset="0"/>
                <a:ea typeface="Georgia" pitchFamily="34" charset="-122"/>
                <a:cs typeface="Georgia" pitchFamily="34" charset="-120"/>
              </a:rPr>
              <a:t>Customer Behavior Dashboard Overview
</a:t>
            </a:r>
            <a:endParaRPr lang="en-US" sz="2700" dirty="0"/>
          </a:p>
        </p:txBody>
      </p:sp>
      <p:sp>
        <p:nvSpPr>
          <p:cNvPr id="8" name="Text 1"/>
          <p:cNvSpPr/>
          <p:nvPr/>
        </p:nvSpPr>
        <p:spPr>
          <a:xfrm>
            <a:off x="711182" y="3049311"/>
            <a:ext cx="6705432" cy="2194267"/>
          </a:xfrm>
          <a:prstGeom prst="rect">
            <a:avLst/>
          </a:prstGeom>
          <a:noFill/>
          <a:ln/>
        </p:spPr>
        <p:txBody>
          <a:bodyPr wrap="square" lIns="1016" tIns="1016" rIns="1016" bIns="1016" rtlCol="0" anchor="t"/>
          <a:lstStyle/>
          <a:p>
            <a:pPr indent="0" marL="0">
              <a:lnSpc>
                <a:spcPct val="160000"/>
              </a:lnSpc>
              <a:buNone/>
            </a:pPr>
            <a:r>
              <a:rPr lang="en-US" sz="1600" dirty="0">
                <a:solidFill>
                  <a:srgbClr val="C8B6A6"/>
                </a:solidFill>
                <a:latin typeface="Georgia" pitchFamily="34" charset="0"/>
                <a:ea typeface="Georgia" pitchFamily="34" charset="-122"/>
                <a:cs typeface="Georgia" pitchFamily="34" charset="-120"/>
              </a:rPr>
              <a:t>This dashboard visualizes key metrics: sales by season, category revenue, and customer counts by subscription status. It highlights trends and customer preferences, aiding strategic decisions. The bar charts provide a clear comparison of performance across different dimensions, essential for understanding customer behavior.
</a:t>
            </a:r>
            <a:endParaRPr lang="en-US" sz="1600" dirty="0"/>
          </a:p>
        </p:txBody>
      </p:sp>
      <p:sp>
        <p:nvSpPr>
          <p:cNvPr id="9" name="Shape 2"/>
          <p:cNvSpPr/>
          <p:nvPr/>
        </p:nvSpPr>
        <p:spPr>
          <a:xfrm>
            <a:off x="711182" y="2757222"/>
            <a:ext cx="660384" cy="63495"/>
          </a:xfrm>
          <a:prstGeom prst="ellipse">
            <a:avLst/>
          </a:prstGeom>
          <a:solidFill>
            <a:srgbClr val="E3A087"/>
          </a:solidFill>
          <a:ln/>
        </p:spPr>
      </p:sp>
      <p:sp>
        <p:nvSpPr>
          <p:cNvPr id="10" name="Shape 3"/>
          <p:cNvSpPr/>
          <p:nvPr/>
        </p:nvSpPr>
        <p:spPr>
          <a:xfrm>
            <a:off x="7848404" y="0"/>
            <a:ext cx="76198" cy="6812280"/>
          </a:xfrm>
          <a:prstGeom prst="rect">
            <a:avLst/>
          </a:prstGeom>
          <a:solidFill>
            <a:srgbClr val="E3A087"/>
          </a:solidFill>
          <a:ln/>
        </p:spPr>
      </p:sp>
      <p:pic>
        <p:nvPicPr>
          <p:cNvPr id="11" name="Image 5" descr="/static/uploads/extracted/94075/doc_6586354f62.png">    </p:cNvPr>
          <p:cNvPicPr>
            <a:picLocks noChangeAspect="1"/>
          </p:cNvPicPr>
          <p:nvPr/>
        </p:nvPicPr>
        <p:blipFill>
          <a:blip r:embed="rId6"/>
          <a:stretch>
            <a:fillRect/>
          </a:stretch>
        </p:blipFill>
        <p:spPr>
          <a:xfrm>
            <a:off x="7924602" y="1982363"/>
            <a:ext cx="4221373" cy="2847554"/>
          </a:xfrm>
          <a:prstGeom prst="rect">
            <a:avLst/>
          </a:prstGeom>
        </p:spPr>
      </p:pic>
      <p:sp>
        <p:nvSpPr>
          <p:cNvPr id="12" name="Text 4"/>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89778" y="-1269968"/>
            <a:ext cx="3256197" cy="4444889"/>
          </a:xfrm>
          <a:prstGeom prst="rect">
            <a:avLst/>
          </a:prstGeom>
        </p:spPr>
      </p:pic>
      <p:pic>
        <p:nvPicPr>
          <p:cNvPr id="3" name="Image 1" descr="preencoded.png">    </p:cNvPr>
          <p:cNvPicPr>
            <a:picLocks noChangeAspect="1"/>
          </p:cNvPicPr>
          <p:nvPr/>
        </p:nvPicPr>
        <p:blipFill>
          <a:blip r:embed="rId2"/>
          <a:stretch>
            <a:fillRect/>
          </a:stretch>
        </p:blipFill>
        <p:spPr>
          <a:xfrm>
            <a:off x="10667733" y="5333867"/>
            <a:ext cx="1396965" cy="1396965"/>
          </a:xfrm>
          <a:prstGeom prst="rect">
            <a:avLst/>
          </a:prstGeom>
        </p:spPr>
      </p:pic>
      <p:pic>
        <p:nvPicPr>
          <p:cNvPr id="4" name="Image 2" descr="preencoded.png">    </p:cNvPr>
          <p:cNvPicPr>
            <a:picLocks noChangeAspect="1"/>
          </p:cNvPicPr>
          <p:nvPr/>
        </p:nvPicPr>
        <p:blipFill>
          <a:blip r:embed="rId3"/>
          <a:stretch>
            <a:fillRect/>
          </a:stretch>
        </p:blipFill>
        <p:spPr>
          <a:xfrm>
            <a:off x="0" y="1269968"/>
            <a:ext cx="63498" cy="4444889"/>
          </a:xfrm>
          <a:prstGeom prst="rect">
            <a:avLst/>
          </a:prstGeom>
        </p:spPr>
      </p:pic>
      <p:pic>
        <p:nvPicPr>
          <p:cNvPr id="5" name="Image 3" descr="preencoded.png">    </p:cNvPr>
          <p:cNvPicPr>
            <a:picLocks noChangeAspect="1"/>
          </p:cNvPicPr>
          <p:nvPr/>
        </p:nvPicPr>
        <p:blipFill>
          <a:blip r:embed="rId4"/>
          <a:stretch>
            <a:fillRect/>
          </a:stretch>
        </p:blipFill>
        <p:spPr>
          <a:xfrm>
            <a:off x="10413740" y="6286343"/>
            <a:ext cx="1269968" cy="431789"/>
          </a:xfrm>
          <a:prstGeom prst="rect">
            <a:avLst/>
          </a:prstGeom>
        </p:spPr>
      </p:pic>
      <p:pic>
        <p:nvPicPr>
          <p:cNvPr id="6" name="Image 4" descr="preencoded.png">    </p:cNvPr>
          <p:cNvPicPr>
            <a:picLocks noChangeAspect="1"/>
          </p:cNvPicPr>
          <p:nvPr/>
        </p:nvPicPr>
        <p:blipFill>
          <a:blip r:embed="rId5"/>
          <a:stretch>
            <a:fillRect/>
          </a:stretch>
        </p:blipFill>
        <p:spPr>
          <a:xfrm>
            <a:off x="0" y="0"/>
            <a:ext cx="12145975" cy="76198"/>
          </a:xfrm>
          <a:prstGeom prst="rect">
            <a:avLst/>
          </a:prstGeom>
        </p:spPr>
      </p:pic>
      <p:sp>
        <p:nvSpPr>
          <p:cNvPr id="7" name="Text 0"/>
          <p:cNvSpPr/>
          <p:nvPr/>
        </p:nvSpPr>
        <p:spPr>
          <a:xfrm>
            <a:off x="761981" y="507987"/>
            <a:ext cx="10667733" cy="761981"/>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9DAC1"/>
                </a:solidFill>
                <a:latin typeface="Georgia" pitchFamily="34" charset="0"/>
                <a:ea typeface="Georgia" pitchFamily="34" charset="-122"/>
                <a:cs typeface="Georgia" pitchFamily="34" charset="-120"/>
              </a:rPr>
              <a:t>How to Implement Business Recommendations Effectively
</a:t>
            </a:r>
            <a:endParaRPr lang="en-US" sz="2900" dirty="0"/>
          </a:p>
        </p:txBody>
      </p:sp>
      <p:sp>
        <p:nvSpPr>
          <p:cNvPr id="8" name="Text 1"/>
          <p:cNvSpPr/>
          <p:nvPr/>
        </p:nvSpPr>
        <p:spPr>
          <a:xfrm>
            <a:off x="1409665" y="1724779"/>
            <a:ext cx="10007349"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Analyze Current Subscription Benefits
</a:t>
            </a:r>
            <a:endParaRPr lang="en-US" sz="1400" dirty="0"/>
          </a:p>
        </p:txBody>
      </p:sp>
      <p:sp>
        <p:nvSpPr>
          <p:cNvPr id="9" name="Text 2"/>
          <p:cNvSpPr/>
          <p:nvPr/>
        </p:nvSpPr>
        <p:spPr>
          <a:xfrm>
            <a:off x="1409665" y="2029572"/>
            <a:ext cx="10007349"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Review existing subscription offerings to identify strengths and weaknesses. Adjust benefits based on customer feedback and competitive analysis to enhance value.
</a:t>
            </a:r>
            <a:endParaRPr lang="en-US" sz="1300" dirty="0"/>
          </a:p>
        </p:txBody>
      </p:sp>
      <p:sp>
        <p:nvSpPr>
          <p:cNvPr id="10" name="Text 3"/>
          <p:cNvSpPr/>
          <p:nvPr/>
        </p:nvSpPr>
        <p:spPr>
          <a:xfrm>
            <a:off x="1409665" y="2799089"/>
            <a:ext cx="10007349"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Develop a Loyalty Program Framework
</a:t>
            </a:r>
            <a:endParaRPr lang="en-US" sz="1400" dirty="0"/>
          </a:p>
        </p:txBody>
      </p:sp>
      <p:sp>
        <p:nvSpPr>
          <p:cNvPr id="11" name="Text 4"/>
          <p:cNvSpPr/>
          <p:nvPr/>
        </p:nvSpPr>
        <p:spPr>
          <a:xfrm>
            <a:off x="1409665" y="3103882"/>
            <a:ext cx="10007349"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Create a structured loyalty program that rewards repeat buyers. Define tiers based on purchase frequency and offer incentives that encourage customers to reach higher tiers.
</a:t>
            </a:r>
            <a:endParaRPr lang="en-US" sz="1300" dirty="0"/>
          </a:p>
        </p:txBody>
      </p:sp>
      <p:sp>
        <p:nvSpPr>
          <p:cNvPr id="12" name="Text 5"/>
          <p:cNvSpPr/>
          <p:nvPr/>
        </p:nvSpPr>
        <p:spPr>
          <a:xfrm>
            <a:off x="1409665" y="3873400"/>
            <a:ext cx="10007349" cy="254001"/>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Review and Adjust Discount Policies
</a:t>
            </a:r>
            <a:endParaRPr lang="en-US" sz="1400" dirty="0"/>
          </a:p>
        </p:txBody>
      </p:sp>
      <p:sp>
        <p:nvSpPr>
          <p:cNvPr id="13" name="Text 6"/>
          <p:cNvSpPr/>
          <p:nvPr/>
        </p:nvSpPr>
        <p:spPr>
          <a:xfrm>
            <a:off x="1409665" y="4178192"/>
            <a:ext cx="10007349"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Analyze the impact of current discount strategies on sales and margins. Adjust policies to ensure they drive sales without compromising profitability.
</a:t>
            </a:r>
            <a:endParaRPr lang="en-US" sz="1300" dirty="0"/>
          </a:p>
        </p:txBody>
      </p:sp>
      <p:sp>
        <p:nvSpPr>
          <p:cNvPr id="14" name="Text 7"/>
          <p:cNvSpPr/>
          <p:nvPr/>
        </p:nvSpPr>
        <p:spPr>
          <a:xfrm>
            <a:off x="1409665" y="4947720"/>
            <a:ext cx="10007349" cy="253990"/>
          </a:xfrm>
          <a:prstGeom prst="rect">
            <a:avLst/>
          </a:prstGeom>
          <a:noFill/>
          <a:ln/>
        </p:spPr>
        <p:txBody>
          <a:bodyPr wrap="square" lIns="1016" tIns="1016" rIns="1016" bIns="1016" rtlCol="0" anchor="t"/>
          <a:lstStyle/>
          <a:p>
            <a:pPr indent="0" marL="0">
              <a:lnSpc>
                <a:spcPct val="125000"/>
              </a:lnSpc>
              <a:buNone/>
            </a:pPr>
            <a:r>
              <a:rPr lang="en-US" sz="1400" b="1" dirty="0">
                <a:solidFill>
                  <a:srgbClr val="F9DAC1"/>
                </a:solidFill>
                <a:latin typeface="Georgia" pitchFamily="34" charset="0"/>
                <a:ea typeface="Georgia" pitchFamily="34" charset="-122"/>
                <a:cs typeface="Georgia" pitchFamily="34" charset="-120"/>
              </a:rPr>
              <a:t>Focus Marketing Strategies on Key Segments
</a:t>
            </a:r>
            <a:endParaRPr lang="en-US" sz="1400" dirty="0"/>
          </a:p>
        </p:txBody>
      </p:sp>
      <p:sp>
        <p:nvSpPr>
          <p:cNvPr id="15" name="Text 8"/>
          <p:cNvSpPr/>
          <p:nvPr/>
        </p:nvSpPr>
        <p:spPr>
          <a:xfrm>
            <a:off x="1409665" y="5252513"/>
            <a:ext cx="10007349" cy="515528"/>
          </a:xfrm>
          <a:prstGeom prst="rect">
            <a:avLst/>
          </a:prstGeom>
          <a:noFill/>
          <a:ln/>
        </p:spPr>
        <p:txBody>
          <a:bodyPr wrap="square" lIns="1016" tIns="1016" rIns="1016" bIns="1016" rtlCol="0" anchor="t"/>
          <a:lstStyle/>
          <a:p>
            <a:pPr indent="0" marL="0">
              <a:lnSpc>
                <a:spcPct val="145000"/>
              </a:lnSpc>
              <a:buNone/>
            </a:pPr>
            <a:r>
              <a:rPr lang="en-US" sz="1300" dirty="0">
                <a:solidFill>
                  <a:srgbClr val="C8B6A6"/>
                </a:solidFill>
                <a:latin typeface="Georgia" pitchFamily="34" charset="0"/>
                <a:ea typeface="Georgia" pitchFamily="34" charset="-122"/>
                <a:cs typeface="Georgia" pitchFamily="34" charset="-120"/>
              </a:rPr>
              <a:t>Utilize data insights to tailor marketing efforts towards high-revenue customer segments. Develop targeted campaigns that resonate with identified demographics.
</a:t>
            </a:r>
            <a:endParaRPr lang="en-US" sz="1300" dirty="0"/>
          </a:p>
        </p:txBody>
      </p:sp>
      <p:sp>
        <p:nvSpPr>
          <p:cNvPr id="16" name="Shape 9"/>
          <p:cNvSpPr/>
          <p:nvPr/>
        </p:nvSpPr>
        <p:spPr>
          <a:xfrm>
            <a:off x="761981" y="1712076"/>
            <a:ext cx="431789" cy="431793"/>
          </a:xfrm>
          <a:prstGeom prst="ellipse">
            <a:avLst/>
          </a:prstGeom>
          <a:solidFill>
            <a:srgbClr val="E3A087"/>
          </a:solidFill>
          <a:ln/>
        </p:spPr>
      </p:sp>
      <p:sp>
        <p:nvSpPr>
          <p:cNvPr id="17" name="Text 10"/>
          <p:cNvSpPr/>
          <p:nvPr/>
        </p:nvSpPr>
        <p:spPr>
          <a:xfrm>
            <a:off x="761981" y="1712076"/>
            <a:ext cx="431789" cy="431793"/>
          </a:xfrm>
          <a:prstGeom prst="rect">
            <a:avLst/>
          </a:prstGeom>
          <a:noFill/>
          <a:ln/>
        </p:spPr>
        <p:txBody>
          <a:bodyPr wrap="square" lIns="0" tIns="0" rIns="0" bIns="0" rtlCol="0" anchor="t"/>
          <a:lstStyle/>
          <a:p>
            <a:pPr algn="ctr" indent="0" marL="0">
              <a:lnSpc>
                <a:spcPct val="200000"/>
              </a:lnSpc>
              <a:buNone/>
            </a:pPr>
            <a:r>
              <a:rPr lang="en-US" sz="1500" b="1" dirty="0">
                <a:solidFill>
                  <a:srgbClr val="FFFFFF"/>
                </a:solidFill>
                <a:latin typeface="Calibri" pitchFamily="34" charset="0"/>
                <a:ea typeface="Calibri" pitchFamily="34" charset="-122"/>
                <a:cs typeface="Calibri" pitchFamily="34" charset="-120"/>
              </a:rPr>
              <a:t>1
</a:t>
            </a:r>
            <a:endParaRPr lang="en-US" sz="1500" dirty="0"/>
          </a:p>
        </p:txBody>
      </p:sp>
      <p:sp>
        <p:nvSpPr>
          <p:cNvPr id="18" name="Shape 11"/>
          <p:cNvSpPr/>
          <p:nvPr/>
        </p:nvSpPr>
        <p:spPr>
          <a:xfrm>
            <a:off x="761981" y="2786386"/>
            <a:ext cx="431789" cy="431793"/>
          </a:xfrm>
          <a:prstGeom prst="ellipse">
            <a:avLst/>
          </a:prstGeom>
          <a:solidFill>
            <a:srgbClr val="E3A087"/>
          </a:solidFill>
          <a:ln/>
        </p:spPr>
      </p:sp>
      <p:sp>
        <p:nvSpPr>
          <p:cNvPr id="19" name="Text 12"/>
          <p:cNvSpPr/>
          <p:nvPr/>
        </p:nvSpPr>
        <p:spPr>
          <a:xfrm>
            <a:off x="761981" y="2786386"/>
            <a:ext cx="431789" cy="431793"/>
          </a:xfrm>
          <a:prstGeom prst="rect">
            <a:avLst/>
          </a:prstGeom>
          <a:noFill/>
          <a:ln/>
        </p:spPr>
        <p:txBody>
          <a:bodyPr wrap="square" lIns="0" tIns="0" rIns="0" bIns="0" rtlCol="0" anchor="t"/>
          <a:lstStyle/>
          <a:p>
            <a:pPr algn="ctr" indent="0" marL="0">
              <a:lnSpc>
                <a:spcPct val="200000"/>
              </a:lnSpc>
              <a:buNone/>
            </a:pPr>
            <a:r>
              <a:rPr lang="en-US" sz="1500" b="1" dirty="0">
                <a:solidFill>
                  <a:srgbClr val="FFFFFF"/>
                </a:solidFill>
                <a:latin typeface="Calibri" pitchFamily="34" charset="0"/>
                <a:ea typeface="Calibri" pitchFamily="34" charset="-122"/>
                <a:cs typeface="Calibri" pitchFamily="34" charset="-120"/>
              </a:rPr>
              <a:t>2
</a:t>
            </a:r>
            <a:endParaRPr lang="en-US" sz="1500" dirty="0"/>
          </a:p>
        </p:txBody>
      </p:sp>
      <p:sp>
        <p:nvSpPr>
          <p:cNvPr id="20" name="Shape 13"/>
          <p:cNvSpPr/>
          <p:nvPr/>
        </p:nvSpPr>
        <p:spPr>
          <a:xfrm>
            <a:off x="761981" y="3860707"/>
            <a:ext cx="431789" cy="431782"/>
          </a:xfrm>
          <a:prstGeom prst="ellipse">
            <a:avLst/>
          </a:prstGeom>
          <a:solidFill>
            <a:srgbClr val="E3A087"/>
          </a:solidFill>
          <a:ln/>
        </p:spPr>
      </p:sp>
      <p:sp>
        <p:nvSpPr>
          <p:cNvPr id="21" name="Text 14"/>
          <p:cNvSpPr/>
          <p:nvPr/>
        </p:nvSpPr>
        <p:spPr>
          <a:xfrm>
            <a:off x="761981" y="3860707"/>
            <a:ext cx="431789" cy="431782"/>
          </a:xfrm>
          <a:prstGeom prst="rect">
            <a:avLst/>
          </a:prstGeom>
          <a:noFill/>
          <a:ln/>
        </p:spPr>
        <p:txBody>
          <a:bodyPr wrap="square" lIns="0" tIns="0" rIns="0" bIns="0" rtlCol="0" anchor="t"/>
          <a:lstStyle/>
          <a:p>
            <a:pPr algn="ctr" indent="0" marL="0">
              <a:lnSpc>
                <a:spcPct val="200000"/>
              </a:lnSpc>
              <a:buNone/>
            </a:pPr>
            <a:r>
              <a:rPr lang="en-US" sz="1500" b="1" dirty="0">
                <a:solidFill>
                  <a:srgbClr val="FFFFFF"/>
                </a:solidFill>
                <a:latin typeface="Calibri" pitchFamily="34" charset="0"/>
                <a:ea typeface="Calibri" pitchFamily="34" charset="-122"/>
                <a:cs typeface="Calibri" pitchFamily="34" charset="-120"/>
              </a:rPr>
              <a:t>3
</a:t>
            </a:r>
            <a:endParaRPr lang="en-US" sz="1500" dirty="0"/>
          </a:p>
        </p:txBody>
      </p:sp>
      <p:sp>
        <p:nvSpPr>
          <p:cNvPr id="22" name="Shape 15"/>
          <p:cNvSpPr/>
          <p:nvPr/>
        </p:nvSpPr>
        <p:spPr>
          <a:xfrm>
            <a:off x="761981" y="4935017"/>
            <a:ext cx="431789" cy="431793"/>
          </a:xfrm>
          <a:prstGeom prst="ellipse">
            <a:avLst/>
          </a:prstGeom>
          <a:solidFill>
            <a:srgbClr val="E3A087"/>
          </a:solidFill>
          <a:ln/>
        </p:spPr>
      </p:sp>
      <p:sp>
        <p:nvSpPr>
          <p:cNvPr id="23" name="Text 16"/>
          <p:cNvSpPr/>
          <p:nvPr/>
        </p:nvSpPr>
        <p:spPr>
          <a:xfrm>
            <a:off x="761981" y="4935017"/>
            <a:ext cx="431789" cy="431793"/>
          </a:xfrm>
          <a:prstGeom prst="rect">
            <a:avLst/>
          </a:prstGeom>
          <a:noFill/>
          <a:ln/>
        </p:spPr>
        <p:txBody>
          <a:bodyPr wrap="square" lIns="0" tIns="0" rIns="0" bIns="0" rtlCol="0" anchor="t"/>
          <a:lstStyle/>
          <a:p>
            <a:pPr algn="ctr" indent="0" marL="0">
              <a:lnSpc>
                <a:spcPct val="200000"/>
              </a:lnSpc>
              <a:buNone/>
            </a:pPr>
            <a:r>
              <a:rPr lang="en-US" sz="1500" b="1" dirty="0">
                <a:solidFill>
                  <a:srgbClr val="FFFFFF"/>
                </a:solidFill>
                <a:latin typeface="Calibri" pitchFamily="34" charset="0"/>
                <a:ea typeface="Calibri" pitchFamily="34" charset="-122"/>
                <a:cs typeface="Calibri" pitchFamily="34" charset="-120"/>
              </a:rPr>
              <a:t>4
</a:t>
            </a:r>
            <a:endParaRPr lang="en-US" sz="1500" dirty="0"/>
          </a:p>
        </p:txBody>
      </p:sp>
      <p:sp>
        <p:nvSpPr>
          <p:cNvPr id="24" name="Text 17"/>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2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4419490"/>
            <a:ext cx="3162221" cy="2392790"/>
          </a:xfrm>
          <a:prstGeom prst="rect">
            <a:avLst/>
          </a:prstGeom>
        </p:spPr>
      </p:pic>
      <p:sp>
        <p:nvSpPr>
          <p:cNvPr id="3" name="Shape 0"/>
          <p:cNvSpPr/>
          <p:nvPr/>
        </p:nvSpPr>
        <p:spPr>
          <a:xfrm>
            <a:off x="1818436" y="2929460"/>
            <a:ext cx="8554823" cy="2524859"/>
          </a:xfrm>
          <a:prstGeom prst="roundRect">
            <a:avLst>
              <a:gd name="adj" fmla="val 8048"/>
            </a:avLst>
          </a:prstGeom>
          <a:solidFill>
            <a:srgbClr val="E3A087">
              <a:alpha val="7000"/>
            </a:srgbClr>
          </a:solidFill>
          <a:ln/>
        </p:spPr>
      </p:sp>
      <p:pic>
        <p:nvPicPr>
          <p:cNvPr id="4" name="Image 1" descr="preencoded.png">    </p:cNvPr>
          <p:cNvPicPr>
            <a:picLocks noChangeAspect="1"/>
          </p:cNvPicPr>
          <p:nvPr/>
        </p:nvPicPr>
        <p:blipFill>
          <a:blip r:embed="rId2"/>
          <a:stretch>
            <a:fillRect/>
          </a:stretch>
        </p:blipFill>
        <p:spPr>
          <a:xfrm>
            <a:off x="10286743" y="2539937"/>
            <a:ext cx="1269968" cy="1777956"/>
          </a:xfrm>
          <a:prstGeom prst="rect">
            <a:avLst/>
          </a:prstGeom>
        </p:spPr>
      </p:pic>
      <p:pic>
        <p:nvPicPr>
          <p:cNvPr id="5" name="Image 2" descr="preencoded.png">    </p:cNvPr>
          <p:cNvPicPr>
            <a:picLocks noChangeAspect="1"/>
          </p:cNvPicPr>
          <p:nvPr/>
        </p:nvPicPr>
        <p:blipFill>
          <a:blip r:embed="rId3"/>
          <a:stretch>
            <a:fillRect/>
          </a:stretch>
        </p:blipFill>
        <p:spPr>
          <a:xfrm>
            <a:off x="634984" y="2539937"/>
            <a:ext cx="1269968" cy="1777956"/>
          </a:xfrm>
          <a:prstGeom prst="rect">
            <a:avLst/>
          </a:prstGeom>
        </p:spPr>
      </p:pic>
      <p:pic>
        <p:nvPicPr>
          <p:cNvPr id="6" name="Image 3"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53436" y="4978276"/>
            <a:ext cx="1269968" cy="1269968"/>
          </a:xfrm>
          <a:prstGeom prst="rect">
            <a:avLst/>
          </a:prstGeom>
        </p:spPr>
      </p:pic>
      <p:pic>
        <p:nvPicPr>
          <p:cNvPr id="7" name="Image 4"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2284" y="914377"/>
            <a:ext cx="1015975" cy="1015975"/>
          </a:xfrm>
          <a:prstGeom prst="rect">
            <a:avLst/>
          </a:prstGeom>
        </p:spPr>
      </p:pic>
      <p:pic>
        <p:nvPicPr>
          <p:cNvPr id="8" name="Image 5" descr="preencoded.png">    </p:cNvPr>
          <p:cNvPicPr>
            <a:picLocks noChangeAspect="1"/>
          </p:cNvPicPr>
          <p:nvPr/>
        </p:nvPicPr>
        <p:blipFill>
          <a:blip r:embed="rId8"/>
          <a:stretch>
            <a:fillRect/>
          </a:stretch>
        </p:blipFill>
        <p:spPr>
          <a:xfrm>
            <a:off x="5168771" y="355591"/>
            <a:ext cx="1727157" cy="761981"/>
          </a:xfrm>
          <a:prstGeom prst="rect">
            <a:avLst/>
          </a:prstGeom>
        </p:spPr>
      </p:pic>
      <p:pic>
        <p:nvPicPr>
          <p:cNvPr id="9" name="Image 6" descr="preencoded.png">    </p:cNvPr>
          <p:cNvPicPr>
            <a:picLocks noChangeAspect="1"/>
          </p:cNvPicPr>
          <p:nvPr/>
        </p:nvPicPr>
        <p:blipFill>
          <a:blip r:embed="rId9"/>
          <a:stretch>
            <a:fillRect/>
          </a:stretch>
        </p:blipFill>
        <p:spPr>
          <a:xfrm>
            <a:off x="0" y="6756231"/>
            <a:ext cx="12145975" cy="56049"/>
          </a:xfrm>
          <a:prstGeom prst="rect">
            <a:avLst/>
          </a:prstGeom>
        </p:spPr>
      </p:pic>
      <p:pic>
        <p:nvPicPr>
          <p:cNvPr id="10" name="Image 7" descr="preencoded.png">    </p:cNvPr>
          <p:cNvPicPr>
            <a:picLocks noChangeAspect="1"/>
          </p:cNvPicPr>
          <p:nvPr/>
        </p:nvPicPr>
        <p:blipFill>
          <a:blip r:embed="rId10"/>
          <a:stretch>
            <a:fillRect/>
          </a:stretch>
        </p:blipFill>
        <p:spPr>
          <a:xfrm>
            <a:off x="0" y="0"/>
            <a:ext cx="12145975" cy="101597"/>
          </a:xfrm>
          <a:prstGeom prst="rect">
            <a:avLst/>
          </a:prstGeom>
        </p:spPr>
      </p:pic>
      <p:sp>
        <p:nvSpPr>
          <p:cNvPr id="11" name="Text 1"/>
          <p:cNvSpPr/>
          <p:nvPr/>
        </p:nvSpPr>
        <p:spPr>
          <a:xfrm>
            <a:off x="4915570" y="2038299"/>
            <a:ext cx="2360355" cy="396075"/>
          </a:xfrm>
          <a:prstGeom prst="rect">
            <a:avLst/>
          </a:prstGeom>
          <a:noFill/>
          <a:ln/>
        </p:spPr>
        <p:txBody>
          <a:bodyPr wrap="square" lIns="1016" tIns="1016" rIns="1016" bIns="1016" rtlCol="0" anchor="t"/>
          <a:lstStyle/>
          <a:p>
            <a:pPr algn="ctr" indent="0" marL="0">
              <a:lnSpc>
                <a:spcPct val="120002"/>
              </a:lnSpc>
              <a:buNone/>
            </a:pPr>
            <a:r>
              <a:rPr lang="en-US" sz="2300" b="1" dirty="0">
                <a:solidFill>
                  <a:srgbClr val="F9DAC1"/>
                </a:solidFill>
                <a:latin typeface="Georgia" pitchFamily="34" charset="0"/>
                <a:ea typeface="Georgia" pitchFamily="34" charset="-122"/>
                <a:cs typeface="Georgia" pitchFamily="34" charset="-120"/>
              </a:rPr>
              <a:t>Key Takeaways
</a:t>
            </a:r>
            <a:endParaRPr lang="en-US" sz="2300" dirty="0"/>
          </a:p>
        </p:txBody>
      </p:sp>
      <p:sp>
        <p:nvSpPr>
          <p:cNvPr id="12" name="Text 2"/>
          <p:cNvSpPr/>
          <p:nvPr/>
        </p:nvSpPr>
        <p:spPr>
          <a:xfrm>
            <a:off x="2243280" y="3237622"/>
            <a:ext cx="7755935" cy="1908524"/>
          </a:xfrm>
          <a:prstGeom prst="rect">
            <a:avLst/>
          </a:prstGeom>
          <a:noFill/>
          <a:ln/>
        </p:spPr>
        <p:txBody>
          <a:bodyPr wrap="square" lIns="1016" tIns="1016" rIns="1016" bIns="1016" rtlCol="0" anchor="t"/>
          <a:lstStyle/>
          <a:p>
            <a:pPr algn="l" indent="0" marL="0">
              <a:lnSpc>
                <a:spcPct val="166981"/>
              </a:lnSpc>
              <a:buNone/>
            </a:pPr>
            <a:r>
              <a:rPr lang="en-US" sz="1400" dirty="0">
                <a:solidFill>
                  <a:srgbClr val="C8B6A6"/>
                </a:solidFill>
                <a:latin typeface="Georgia" pitchFamily="34" charset="0"/>
                <a:ea typeface="Georgia" pitchFamily="34" charset="-122"/>
                <a:cs typeface="Georgia" pitchFamily="34" charset="-120"/>
              </a:rPr>
              <a:t>This analysis reveals critical insights into customer shopping behavior, highlighting the importance of targeted marketing and product positioning. By focusing on high-revenue age groups and promoting subscription benefits, businesses can enhance customer loyalty and drive revenue growth. Implementing these strategies will not only improve customer engagement but also position the brand for future success in a competitive market.
</a:t>
            </a:r>
            <a:endParaRPr lang="en-US" sz="1400" dirty="0"/>
          </a:p>
        </p:txBody>
      </p:sp>
      <p:sp>
        <p:nvSpPr>
          <p:cNvPr id="13" name="Shape 3"/>
          <p:cNvSpPr/>
          <p:nvPr/>
        </p:nvSpPr>
        <p:spPr>
          <a:xfrm>
            <a:off x="5787681" y="2654432"/>
            <a:ext cx="616332" cy="54969"/>
          </a:xfrm>
          <a:prstGeom prst="ellipse">
            <a:avLst/>
          </a:prstGeom>
          <a:solidFill>
            <a:srgbClr val="E3A087"/>
          </a:solidFill>
          <a:ln/>
        </p:spPr>
      </p:sp>
      <p:sp>
        <p:nvSpPr>
          <p:cNvPr id="14" name="Text 4"/>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2026-09-20T14:36:44Z</dcterms:created>
  <dcterms:modified xsi:type="dcterms:W3CDTF">2026-09-20T14:36:44Z</dcterms:modified>
</cp:coreProperties>
</file>